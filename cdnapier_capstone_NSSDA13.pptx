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autoCompressPictures="0">
  <p:sldMasterIdLst>
    <p:sldMasterId id="2147483659" r:id="rId1"/>
  </p:sldMasterIdLst>
  <p:notesMasterIdLst>
    <p:notesMasterId r:id="rId23"/>
  </p:notesMasterIdLst>
  <p:sldIdLst>
    <p:sldId id="258" r:id="rId2"/>
    <p:sldId id="256" r:id="rId3"/>
    <p:sldId id="297" r:id="rId4"/>
    <p:sldId id="259" r:id="rId5"/>
    <p:sldId id="260" r:id="rId6"/>
    <p:sldId id="261" r:id="rId7"/>
    <p:sldId id="298" r:id="rId8"/>
    <p:sldId id="302" r:id="rId9"/>
    <p:sldId id="277" r:id="rId10"/>
    <p:sldId id="303" r:id="rId11"/>
    <p:sldId id="282" r:id="rId12"/>
    <p:sldId id="265" r:id="rId13"/>
    <p:sldId id="304" r:id="rId14"/>
    <p:sldId id="270" r:id="rId15"/>
    <p:sldId id="305" r:id="rId16"/>
    <p:sldId id="306" r:id="rId17"/>
    <p:sldId id="308" r:id="rId18"/>
    <p:sldId id="310" r:id="rId19"/>
    <p:sldId id="312" r:id="rId20"/>
    <p:sldId id="307" r:id="rId21"/>
    <p:sldId id="311" r:id="rId22"/>
  </p:sldIdLst>
  <p:sldSz cx="9144000" cy="5143500" type="screen16x9"/>
  <p:notesSz cx="6858000" cy="9144000"/>
  <p:embeddedFontLst>
    <p:embeddedFont>
      <p:font typeface="Barlow" pitchFamily="2" charset="77"/>
      <p:regular r:id="rId24"/>
      <p:bold r:id="rId25"/>
      <p:italic r:id="rId26"/>
      <p:boldItalic r:id="rId27"/>
    </p:embeddedFont>
    <p:embeddedFont>
      <p:font typeface="Barlow Light" pitchFamily="2" charset="77"/>
      <p:regular r:id="rId28"/>
      <p:bold r:id="rId29"/>
      <p:italic r:id="rId30"/>
      <p:boldItalic r:id="rId31"/>
    </p:embeddedFont>
    <p:embeddedFont>
      <p:font typeface="Barlow SemiBold" pitchFamily="2" charset="77"/>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B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AEA8867-561A-43F1-AA35-FFD2E45D988E}">
  <a:tblStyle styleId="{9AEA8867-561A-43F1-AA35-FFD2E45D988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3FD87B-DE17-4FAB-93B8-1F322D3E5D8B}"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04"/>
    <p:restoredTop sz="94690"/>
  </p:normalViewPr>
  <p:slideViewPr>
    <p:cSldViewPr snapToGrid="0" snapToObjects="1">
      <p:cViewPr varScale="1">
        <p:scale>
          <a:sx n="148" d="100"/>
          <a:sy n="148" d="100"/>
        </p:scale>
        <p:origin x="2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6130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4406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5147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5ed75ccf_0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35ed75ccf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5822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bf067c2c6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bf067c2c6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1197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9838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1778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2841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65612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77863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46232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22822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5143500"/>
          </a:xfrm>
          <a:prstGeom prst="rect">
            <a:avLst/>
          </a:prstGeom>
          <a:gradFill>
            <a:gsLst>
              <a:gs pos="0">
                <a:srgbClr val="FFFFFF">
                  <a:alpha val="0"/>
                  <a:alpha val="46370"/>
                </a:srgbClr>
              </a:gs>
              <a:gs pos="50000">
                <a:srgbClr val="FFFFFF">
                  <a:alpha val="0"/>
                  <a:alpha val="46370"/>
                </a:srgbClr>
              </a:gs>
              <a:gs pos="100000">
                <a:schemeClr val="lt1">
                  <a:alpha val="46370"/>
                </a:scheme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rot="10800000" flipH="1">
            <a:off x="341403" y="3124853"/>
            <a:ext cx="8801751" cy="2018725"/>
            <a:chOff x="-4395163" y="751996"/>
            <a:chExt cx="13539073" cy="3105254"/>
          </a:xfrm>
        </p:grpSpPr>
        <p:sp>
          <p:nvSpPr>
            <p:cNvPr id="12" name="Google Shape;12;p2"/>
            <p:cNvSpPr/>
            <p:nvPr/>
          </p:nvSpPr>
          <p:spPr>
            <a:xfrm>
              <a:off x="5833150" y="752100"/>
              <a:ext cx="743025" cy="3102950"/>
            </a:xfrm>
            <a:custGeom>
              <a:avLst/>
              <a:gdLst/>
              <a:ahLst/>
              <a:cxnLst/>
              <a:rect l="l" t="t" r="r" b="b"/>
              <a:pathLst>
                <a:path w="29721" h="124118" extrusionOk="0">
                  <a:moveTo>
                    <a:pt x="29559" y="0"/>
                  </a:moveTo>
                  <a:lnTo>
                    <a:pt x="0" y="21343"/>
                  </a:lnTo>
                  <a:lnTo>
                    <a:pt x="0" y="124118"/>
                  </a:lnTo>
                  <a:lnTo>
                    <a:pt x="29721" y="102879"/>
                  </a:lnTo>
                  <a:close/>
                </a:path>
              </a:pathLst>
            </a:custGeom>
            <a:solidFill>
              <a:schemeClr val="accent2"/>
            </a:solidFill>
            <a:ln>
              <a:noFill/>
            </a:ln>
          </p:spPr>
        </p:sp>
        <p:sp>
          <p:nvSpPr>
            <p:cNvPr id="13" name="Google Shape;13;p2"/>
            <p:cNvSpPr/>
            <p:nvPr/>
          </p:nvSpPr>
          <p:spPr>
            <a:xfrm>
              <a:off x="6572309" y="752088"/>
              <a:ext cx="2571600" cy="2571900"/>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395163" y="1285649"/>
              <a:ext cx="10228800" cy="2571600"/>
            </a:xfrm>
            <a:prstGeom prst="rect">
              <a:avLst/>
            </a:prstGeom>
            <a:gradFill>
              <a:gsLst>
                <a:gs pos="0">
                  <a:schemeClr val="accent2"/>
                </a:gs>
                <a:gs pos="7300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833500" y="751996"/>
              <a:ext cx="738775" cy="745525"/>
            </a:xfrm>
            <a:custGeom>
              <a:avLst/>
              <a:gdLst/>
              <a:ahLst/>
              <a:cxnLst/>
              <a:rect l="l" t="t" r="r" b="b"/>
              <a:pathLst>
                <a:path w="29551" h="29821" extrusionOk="0">
                  <a:moveTo>
                    <a:pt x="29397" y="0"/>
                  </a:moveTo>
                  <a:lnTo>
                    <a:pt x="64" y="21385"/>
                  </a:lnTo>
                  <a:lnTo>
                    <a:pt x="0" y="29821"/>
                  </a:lnTo>
                  <a:lnTo>
                    <a:pt x="29551" y="8625"/>
                  </a:lnTo>
                  <a:close/>
                </a:path>
              </a:pathLst>
            </a:custGeom>
            <a:solidFill>
              <a:srgbClr val="FFFFFF">
                <a:alpha val="11170"/>
              </a:srgbClr>
            </a:solidFill>
            <a:ln>
              <a:noFill/>
            </a:ln>
          </p:spPr>
        </p:sp>
        <p:sp>
          <p:nvSpPr>
            <p:cNvPr id="16" name="Google Shape;16;p2"/>
            <p:cNvSpPr/>
            <p:nvPr/>
          </p:nvSpPr>
          <p:spPr>
            <a:xfrm>
              <a:off x="6572284" y="752119"/>
              <a:ext cx="2571600" cy="211500"/>
            </a:xfrm>
            <a:prstGeom prst="rect">
              <a:avLst/>
            </a:pr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395163" y="1285742"/>
              <a:ext cx="10228800" cy="211800"/>
            </a:xfrm>
            <a:prstGeom prst="rect">
              <a:avLst/>
            </a:prstGeom>
            <a:solidFill>
              <a:srgbClr val="FFFFFF">
                <a:alpha val="111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18;p2"/>
          <p:cNvSpPr txBox="1">
            <a:spLocks noGrp="1"/>
          </p:cNvSpPr>
          <p:nvPr>
            <p:ph type="ctrTitle"/>
          </p:nvPr>
        </p:nvSpPr>
        <p:spPr>
          <a:xfrm>
            <a:off x="614975" y="3124850"/>
            <a:ext cx="6058800" cy="1532100"/>
          </a:xfrm>
          <a:prstGeom prst="rect">
            <a:avLst/>
          </a:prstGeom>
        </p:spPr>
        <p:txBody>
          <a:bodyPr spcFirstLastPara="1" wrap="square" lIns="0" tIns="0" rIns="0" bIns="0"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solidFill>
          <a:schemeClr val="accent6"/>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381000" y="752088"/>
            <a:ext cx="8762909" cy="3105763"/>
            <a:chOff x="381000" y="752088"/>
            <a:chExt cx="8762909" cy="3105763"/>
          </a:xfrm>
        </p:grpSpPr>
        <p:sp>
          <p:nvSpPr>
            <p:cNvPr id="21" name="Google Shape;21;p3"/>
            <p:cNvSpPr/>
            <p:nvPr/>
          </p:nvSpPr>
          <p:spPr>
            <a:xfrm>
              <a:off x="5833150" y="752100"/>
              <a:ext cx="743025" cy="3102950"/>
            </a:xfrm>
            <a:custGeom>
              <a:avLst/>
              <a:gdLst/>
              <a:ahLst/>
              <a:cxnLst/>
              <a:rect l="l" t="t" r="r" b="b"/>
              <a:pathLst>
                <a:path w="29721" h="124118" extrusionOk="0">
                  <a:moveTo>
                    <a:pt x="29559" y="0"/>
                  </a:moveTo>
                  <a:lnTo>
                    <a:pt x="0" y="21343"/>
                  </a:lnTo>
                  <a:lnTo>
                    <a:pt x="0" y="124118"/>
                  </a:lnTo>
                  <a:lnTo>
                    <a:pt x="29721" y="102879"/>
                  </a:lnTo>
                  <a:close/>
                </a:path>
              </a:pathLst>
            </a:custGeom>
            <a:solidFill>
              <a:schemeClr val="accent2"/>
            </a:solidFill>
            <a:ln>
              <a:noFill/>
            </a:ln>
          </p:spPr>
        </p:sp>
        <p:sp>
          <p:nvSpPr>
            <p:cNvPr id="22" name="Google Shape;22;p3"/>
            <p:cNvSpPr/>
            <p:nvPr/>
          </p:nvSpPr>
          <p:spPr>
            <a:xfrm>
              <a:off x="6572309" y="752088"/>
              <a:ext cx="2571600" cy="2571900"/>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381000" y="1285650"/>
              <a:ext cx="5452500" cy="2571600"/>
            </a:xfrm>
            <a:prstGeom prst="rect">
              <a:avLst/>
            </a:prstGeom>
            <a:gradFill>
              <a:gsLst>
                <a:gs pos="0">
                  <a:schemeClr val="accent2"/>
                </a:gs>
                <a:gs pos="7300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5833500" y="3112325"/>
              <a:ext cx="738775" cy="745525"/>
            </a:xfrm>
            <a:custGeom>
              <a:avLst/>
              <a:gdLst/>
              <a:ahLst/>
              <a:cxnLst/>
              <a:rect l="l" t="t" r="r" b="b"/>
              <a:pathLst>
                <a:path w="29551" h="29821" extrusionOk="0">
                  <a:moveTo>
                    <a:pt x="29397" y="0"/>
                  </a:moveTo>
                  <a:lnTo>
                    <a:pt x="64" y="21385"/>
                  </a:lnTo>
                  <a:lnTo>
                    <a:pt x="0" y="29821"/>
                  </a:lnTo>
                  <a:lnTo>
                    <a:pt x="29551" y="8625"/>
                  </a:lnTo>
                  <a:close/>
                </a:path>
              </a:pathLst>
            </a:custGeom>
            <a:solidFill>
              <a:srgbClr val="001F46">
                <a:alpha val="20110"/>
              </a:srgbClr>
            </a:solidFill>
            <a:ln>
              <a:noFill/>
            </a:ln>
          </p:spPr>
        </p:sp>
        <p:sp>
          <p:nvSpPr>
            <p:cNvPr id="25" name="Google Shape;25;p3"/>
            <p:cNvSpPr/>
            <p:nvPr/>
          </p:nvSpPr>
          <p:spPr>
            <a:xfrm>
              <a:off x="6572284" y="3112333"/>
              <a:ext cx="2571600" cy="211500"/>
            </a:xfrm>
            <a:prstGeom prst="rect">
              <a:avLst/>
            </a:prstGeom>
            <a:solidFill>
              <a:srgbClr val="001F46">
                <a:alpha val="20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381000" y="3645900"/>
              <a:ext cx="5452500" cy="211800"/>
            </a:xfrm>
            <a:prstGeom prst="rect">
              <a:avLst/>
            </a:prstGeom>
            <a:solidFill>
              <a:srgbClr val="001F46">
                <a:alpha val="20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 name="Google Shape;27;p3"/>
          <p:cNvSpPr txBox="1">
            <a:spLocks noGrp="1"/>
          </p:cNvSpPr>
          <p:nvPr>
            <p:ph type="ctrTitle"/>
          </p:nvPr>
        </p:nvSpPr>
        <p:spPr>
          <a:xfrm>
            <a:off x="614975" y="2026650"/>
            <a:ext cx="4969500" cy="5637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8" name="Google Shape;28;p3"/>
          <p:cNvSpPr txBox="1">
            <a:spLocks noGrp="1"/>
          </p:cNvSpPr>
          <p:nvPr>
            <p:ph type="subTitle" idx="1"/>
          </p:nvPr>
        </p:nvSpPr>
        <p:spPr>
          <a:xfrm>
            <a:off x="614975" y="2611075"/>
            <a:ext cx="4969500" cy="277200"/>
          </a:xfrm>
          <a:prstGeom prst="rect">
            <a:avLst/>
          </a:prstGeom>
        </p:spPr>
        <p:txBody>
          <a:bodyPr spcFirstLastPara="1" wrap="square" lIns="0" tIns="0" rIns="0" bIns="0" anchor="t" anchorCtr="0">
            <a:noAutofit/>
          </a:bodyPr>
          <a:lstStyle>
            <a:lvl1pPr lvl="0" rtl="0">
              <a:spcBef>
                <a:spcPts val="0"/>
              </a:spcBef>
              <a:spcAft>
                <a:spcPts val="0"/>
              </a:spcAft>
              <a:buClr>
                <a:schemeClr val="dk1"/>
              </a:buClr>
              <a:buSzPts val="1800"/>
              <a:buNone/>
              <a:defRPr sz="1800"/>
            </a:lvl1pPr>
            <a:lvl2pPr lvl="1" rtl="0">
              <a:spcBef>
                <a:spcPts val="0"/>
              </a:spcBef>
              <a:spcAft>
                <a:spcPts val="0"/>
              </a:spcAft>
              <a:buClr>
                <a:schemeClr val="dk1"/>
              </a:buClr>
              <a:buSzPts val="1800"/>
              <a:buNone/>
              <a:defRPr sz="1800"/>
            </a:lvl2pPr>
            <a:lvl3pPr lvl="2" rtl="0">
              <a:spcBef>
                <a:spcPts val="0"/>
              </a:spcBef>
              <a:spcAft>
                <a:spcPts val="0"/>
              </a:spcAft>
              <a:buClr>
                <a:schemeClr val="dk1"/>
              </a:buClr>
              <a:buSzPts val="1800"/>
              <a:buNone/>
              <a:defRPr sz="1800"/>
            </a:lvl3pPr>
            <a:lvl4pPr lvl="3" rtl="0">
              <a:spcBef>
                <a:spcPts val="0"/>
              </a:spcBef>
              <a:spcAft>
                <a:spcPts val="0"/>
              </a:spcAft>
              <a:buClr>
                <a:schemeClr val="dk1"/>
              </a:buClr>
              <a:buSzPts val="1800"/>
              <a:buNone/>
              <a:defRPr sz="1800"/>
            </a:lvl4pPr>
            <a:lvl5pPr lvl="4" rtl="0">
              <a:spcBef>
                <a:spcPts val="0"/>
              </a:spcBef>
              <a:spcAft>
                <a:spcPts val="0"/>
              </a:spcAft>
              <a:buClr>
                <a:schemeClr val="dk1"/>
              </a:buClr>
              <a:buSzPts val="1800"/>
              <a:buNone/>
              <a:defRPr sz="1800"/>
            </a:lvl5pPr>
            <a:lvl6pPr lvl="5" rtl="0">
              <a:spcBef>
                <a:spcPts val="0"/>
              </a:spcBef>
              <a:spcAft>
                <a:spcPts val="0"/>
              </a:spcAft>
              <a:buClr>
                <a:schemeClr val="dk1"/>
              </a:buClr>
              <a:buSzPts val="1800"/>
              <a:buNone/>
              <a:defRPr sz="1800"/>
            </a:lvl6pPr>
            <a:lvl7pPr lvl="6" rtl="0">
              <a:spcBef>
                <a:spcPts val="0"/>
              </a:spcBef>
              <a:spcAft>
                <a:spcPts val="0"/>
              </a:spcAft>
              <a:buClr>
                <a:schemeClr val="dk1"/>
              </a:buClr>
              <a:buSzPts val="1800"/>
              <a:buNone/>
              <a:defRPr sz="1800"/>
            </a:lvl7pPr>
            <a:lvl8pPr lvl="7" rtl="0">
              <a:spcBef>
                <a:spcPts val="0"/>
              </a:spcBef>
              <a:spcAft>
                <a:spcPts val="0"/>
              </a:spcAft>
              <a:buClr>
                <a:schemeClr val="dk1"/>
              </a:buClr>
              <a:buSzPts val="1800"/>
              <a:buNone/>
              <a:defRPr sz="1800"/>
            </a:lvl8pPr>
            <a:lvl9pPr lvl="8" rtl="0">
              <a:spcBef>
                <a:spcPts val="0"/>
              </a:spcBef>
              <a:spcAft>
                <a:spcPts val="0"/>
              </a:spcAft>
              <a:buClr>
                <a:schemeClr val="dk1"/>
              </a:buClr>
              <a:buSzPts val="18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9"/>
        <p:cNvGrpSpPr/>
        <p:nvPr/>
      </p:nvGrpSpPr>
      <p:grpSpPr>
        <a:xfrm>
          <a:off x="0" y="0"/>
          <a:ext cx="0" cy="0"/>
          <a:chOff x="0" y="0"/>
          <a:chExt cx="0" cy="0"/>
        </a:xfrm>
      </p:grpSpPr>
      <p:grpSp>
        <p:nvGrpSpPr>
          <p:cNvPr id="30" name="Google Shape;30;p4"/>
          <p:cNvGrpSpPr/>
          <p:nvPr/>
        </p:nvGrpSpPr>
        <p:grpSpPr>
          <a:xfrm>
            <a:off x="381000" y="380950"/>
            <a:ext cx="8762909" cy="4384250"/>
            <a:chOff x="381000" y="380950"/>
            <a:chExt cx="8762909" cy="4384250"/>
          </a:xfrm>
        </p:grpSpPr>
        <p:sp>
          <p:nvSpPr>
            <p:cNvPr id="31" name="Google Shape;31;p4"/>
            <p:cNvSpPr/>
            <p:nvPr/>
          </p:nvSpPr>
          <p:spPr>
            <a:xfrm>
              <a:off x="5829300" y="380950"/>
              <a:ext cx="746875" cy="4382725"/>
            </a:xfrm>
            <a:custGeom>
              <a:avLst/>
              <a:gdLst/>
              <a:ahLst/>
              <a:cxnLst/>
              <a:rect l="l" t="t" r="r" b="b"/>
              <a:pathLst>
                <a:path w="29875" h="175309" extrusionOk="0">
                  <a:moveTo>
                    <a:pt x="29713" y="25517"/>
                  </a:moveTo>
                  <a:lnTo>
                    <a:pt x="0" y="0"/>
                  </a:lnTo>
                  <a:lnTo>
                    <a:pt x="100" y="175309"/>
                  </a:lnTo>
                  <a:lnTo>
                    <a:pt x="29875" y="128396"/>
                  </a:lnTo>
                  <a:close/>
                </a:path>
              </a:pathLst>
            </a:custGeom>
            <a:solidFill>
              <a:schemeClr val="accent2"/>
            </a:solidFill>
            <a:ln>
              <a:noFill/>
            </a:ln>
          </p:spPr>
        </p:sp>
        <p:sp>
          <p:nvSpPr>
            <p:cNvPr id="32" name="Google Shape;32;p4"/>
            <p:cNvSpPr/>
            <p:nvPr/>
          </p:nvSpPr>
          <p:spPr>
            <a:xfrm>
              <a:off x="5830600" y="3379100"/>
              <a:ext cx="741675" cy="1384575"/>
            </a:xfrm>
            <a:custGeom>
              <a:avLst/>
              <a:gdLst/>
              <a:ahLst/>
              <a:cxnLst/>
              <a:rect l="l" t="t" r="r" b="b"/>
              <a:pathLst>
                <a:path w="29667" h="55383" extrusionOk="0">
                  <a:moveTo>
                    <a:pt x="29513" y="0"/>
                  </a:moveTo>
                  <a:lnTo>
                    <a:pt x="0" y="46895"/>
                  </a:lnTo>
                  <a:lnTo>
                    <a:pt x="0" y="55383"/>
                  </a:lnTo>
                  <a:lnTo>
                    <a:pt x="29667" y="8625"/>
                  </a:lnTo>
                  <a:close/>
                </a:path>
              </a:pathLst>
            </a:custGeom>
            <a:solidFill>
              <a:srgbClr val="001F46">
                <a:alpha val="20110"/>
              </a:srgbClr>
            </a:solidFill>
            <a:ln>
              <a:noFill/>
            </a:ln>
          </p:spPr>
        </p:sp>
        <p:sp>
          <p:nvSpPr>
            <p:cNvPr id="33" name="Google Shape;33;p4"/>
            <p:cNvSpPr/>
            <p:nvPr/>
          </p:nvSpPr>
          <p:spPr>
            <a:xfrm rot="10800000">
              <a:off x="6572309" y="1017613"/>
              <a:ext cx="2571600" cy="2571900"/>
            </a:xfrm>
            <a:prstGeom prst="rect">
              <a:avLst/>
            </a:prstGeom>
            <a:gradFill>
              <a:gsLst>
                <a:gs pos="0">
                  <a:schemeClr val="accent2"/>
                </a:gs>
                <a:gs pos="7300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rot="10800000">
              <a:off x="381000" y="381000"/>
              <a:ext cx="5452500" cy="4384200"/>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6572284" y="3377858"/>
              <a:ext cx="2571600" cy="211500"/>
            </a:xfrm>
            <a:prstGeom prst="rect">
              <a:avLst/>
            </a:prstGeom>
            <a:solidFill>
              <a:srgbClr val="001F46">
                <a:alpha val="20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a:off x="381000" y="4550600"/>
              <a:ext cx="5452500" cy="211800"/>
            </a:xfrm>
            <a:prstGeom prst="rect">
              <a:avLst/>
            </a:prstGeom>
            <a:solidFill>
              <a:srgbClr val="001F46">
                <a:alpha val="20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 name="Google Shape;37;p4"/>
          <p:cNvGrpSpPr/>
          <p:nvPr/>
        </p:nvGrpSpPr>
        <p:grpSpPr>
          <a:xfrm>
            <a:off x="0" y="4762400"/>
            <a:ext cx="603997" cy="381100"/>
            <a:chOff x="0" y="4762400"/>
            <a:chExt cx="603997" cy="381100"/>
          </a:xfrm>
        </p:grpSpPr>
        <p:sp>
          <p:nvSpPr>
            <p:cNvPr id="38" name="Google Shape;38;p4"/>
            <p:cNvSpPr/>
            <p:nvPr/>
          </p:nvSpPr>
          <p:spPr>
            <a:xfrm>
              <a:off x="380497" y="4762400"/>
              <a:ext cx="223500" cy="3810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0" y="4762500"/>
              <a:ext cx="381000" cy="381000"/>
            </a:xfrm>
            <a:prstGeom prst="rect">
              <a:avLst/>
            </a:prstGeom>
            <a:gradFill>
              <a:gsLst>
                <a:gs pos="0">
                  <a:schemeClr val="accent6"/>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4"/>
          <p:cNvSpPr txBox="1">
            <a:spLocks noGrp="1"/>
          </p:cNvSpPr>
          <p:nvPr>
            <p:ph type="body" idx="1"/>
          </p:nvPr>
        </p:nvSpPr>
        <p:spPr>
          <a:xfrm>
            <a:off x="1105629" y="1039525"/>
            <a:ext cx="4055100" cy="2914800"/>
          </a:xfrm>
          <a:prstGeom prst="rect">
            <a:avLst/>
          </a:prstGeom>
        </p:spPr>
        <p:txBody>
          <a:bodyPr spcFirstLastPara="1" wrap="square" lIns="0" tIns="0" rIns="0" bIns="0" anchor="t" anchorCtr="0">
            <a:noAutofit/>
          </a:bodyPr>
          <a:lstStyle>
            <a:lvl1pPr marL="457200" lvl="0" indent="-419100" rtl="0">
              <a:spcBef>
                <a:spcPts val="600"/>
              </a:spcBef>
              <a:spcAft>
                <a:spcPts val="0"/>
              </a:spcAft>
              <a:buClr>
                <a:schemeClr val="lt1"/>
              </a:buClr>
              <a:buSzPts val="3000"/>
              <a:buChar char="▸"/>
              <a:defRPr sz="3000">
                <a:solidFill>
                  <a:schemeClr val="lt1"/>
                </a:solidFill>
              </a:defRPr>
            </a:lvl1pPr>
            <a:lvl2pPr marL="914400" lvl="1" indent="-419100" rtl="0">
              <a:spcBef>
                <a:spcPts val="0"/>
              </a:spcBef>
              <a:spcAft>
                <a:spcPts val="0"/>
              </a:spcAft>
              <a:buClr>
                <a:schemeClr val="lt1"/>
              </a:buClr>
              <a:buSzPts val="3000"/>
              <a:buChar char="▹"/>
              <a:defRPr sz="3000">
                <a:solidFill>
                  <a:schemeClr val="lt1"/>
                </a:solidFill>
              </a:defRPr>
            </a:lvl2pPr>
            <a:lvl3pPr marL="1371600" lvl="2" indent="-419100" rtl="0">
              <a:spcBef>
                <a:spcPts val="0"/>
              </a:spcBef>
              <a:spcAft>
                <a:spcPts val="0"/>
              </a:spcAft>
              <a:buClr>
                <a:schemeClr val="lt1"/>
              </a:buClr>
              <a:buSzPts val="3000"/>
              <a:buChar char="■"/>
              <a:defRPr sz="3000">
                <a:solidFill>
                  <a:schemeClr val="lt1"/>
                </a:solidFill>
              </a:defRPr>
            </a:lvl3pPr>
            <a:lvl4pPr marL="1828800" lvl="3" indent="-419100" rtl="0">
              <a:spcBef>
                <a:spcPts val="0"/>
              </a:spcBef>
              <a:spcAft>
                <a:spcPts val="0"/>
              </a:spcAft>
              <a:buClr>
                <a:schemeClr val="lt1"/>
              </a:buClr>
              <a:buSzPts val="3000"/>
              <a:buChar char="●"/>
              <a:defRPr sz="3000">
                <a:solidFill>
                  <a:schemeClr val="lt1"/>
                </a:solidFill>
              </a:defRPr>
            </a:lvl4pPr>
            <a:lvl5pPr marL="2286000" lvl="4" indent="-419100" rtl="0">
              <a:spcBef>
                <a:spcPts val="0"/>
              </a:spcBef>
              <a:spcAft>
                <a:spcPts val="0"/>
              </a:spcAft>
              <a:buClr>
                <a:schemeClr val="lt1"/>
              </a:buClr>
              <a:buSzPts val="3000"/>
              <a:buChar char="○"/>
              <a:defRPr sz="3000">
                <a:solidFill>
                  <a:schemeClr val="lt1"/>
                </a:solidFill>
              </a:defRPr>
            </a:lvl5pPr>
            <a:lvl6pPr marL="2743200" lvl="5" indent="-419100" rtl="0">
              <a:spcBef>
                <a:spcPts val="0"/>
              </a:spcBef>
              <a:spcAft>
                <a:spcPts val="0"/>
              </a:spcAft>
              <a:buClr>
                <a:schemeClr val="lt1"/>
              </a:buClr>
              <a:buSzPts val="3000"/>
              <a:buChar char="■"/>
              <a:defRPr sz="3000">
                <a:solidFill>
                  <a:schemeClr val="lt1"/>
                </a:solidFill>
              </a:defRPr>
            </a:lvl6pPr>
            <a:lvl7pPr marL="3200400" lvl="6" indent="-419100" rtl="0">
              <a:spcBef>
                <a:spcPts val="0"/>
              </a:spcBef>
              <a:spcAft>
                <a:spcPts val="0"/>
              </a:spcAft>
              <a:buClr>
                <a:schemeClr val="lt1"/>
              </a:buClr>
              <a:buSzPts val="3000"/>
              <a:buChar char="●"/>
              <a:defRPr sz="3000">
                <a:solidFill>
                  <a:schemeClr val="lt1"/>
                </a:solidFill>
              </a:defRPr>
            </a:lvl7pPr>
            <a:lvl8pPr marL="3657600" lvl="7" indent="-419100" rtl="0">
              <a:spcBef>
                <a:spcPts val="0"/>
              </a:spcBef>
              <a:spcAft>
                <a:spcPts val="0"/>
              </a:spcAft>
              <a:buClr>
                <a:schemeClr val="lt1"/>
              </a:buClr>
              <a:buSzPts val="3000"/>
              <a:buChar char="○"/>
              <a:defRPr sz="3000">
                <a:solidFill>
                  <a:schemeClr val="lt1"/>
                </a:solidFill>
              </a:defRPr>
            </a:lvl8pPr>
            <a:lvl9pPr marL="4114800" lvl="8" indent="-419100" rtl="0">
              <a:spcBef>
                <a:spcPts val="0"/>
              </a:spcBef>
              <a:spcAft>
                <a:spcPts val="0"/>
              </a:spcAft>
              <a:buClr>
                <a:schemeClr val="lt1"/>
              </a:buClr>
              <a:buSzPts val="3000"/>
              <a:buChar char="■"/>
              <a:defRPr sz="3000">
                <a:solidFill>
                  <a:schemeClr val="lt1"/>
                </a:solidFill>
              </a:defRPr>
            </a:lvl9pPr>
          </a:lstStyle>
          <a:p>
            <a:endParaRPr/>
          </a:p>
        </p:txBody>
      </p:sp>
      <p:sp>
        <p:nvSpPr>
          <p:cNvPr id="41" name="Google Shape;41;p4"/>
          <p:cNvSpPr txBox="1"/>
          <p:nvPr/>
        </p:nvSpPr>
        <p:spPr>
          <a:xfrm>
            <a:off x="723450" y="720725"/>
            <a:ext cx="381000" cy="65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9600">
                <a:solidFill>
                  <a:schemeClr val="dk1"/>
                </a:solidFill>
                <a:latin typeface="Barlow"/>
                <a:ea typeface="Barlow"/>
                <a:cs typeface="Barlow"/>
                <a:sym typeface="Barlow"/>
              </a:rPr>
              <a:t>“</a:t>
            </a:r>
            <a:endParaRPr sz="9600">
              <a:solidFill>
                <a:schemeClr val="dk1"/>
              </a:solidFill>
              <a:latin typeface="Barlow"/>
              <a:ea typeface="Barlow"/>
              <a:cs typeface="Barlow"/>
              <a:sym typeface="Barlow"/>
            </a:endParaRPr>
          </a:p>
        </p:txBody>
      </p:sp>
      <p:sp>
        <p:nvSpPr>
          <p:cNvPr id="42" name="Google Shape;42;p4"/>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43"/>
        <p:cNvGrpSpPr/>
        <p:nvPr/>
      </p:nvGrpSpPr>
      <p:grpSpPr>
        <a:xfrm>
          <a:off x="0" y="0"/>
          <a:ext cx="0" cy="0"/>
          <a:chOff x="0" y="0"/>
          <a:chExt cx="0" cy="0"/>
        </a:xfrm>
      </p:grpSpPr>
      <p:grpSp>
        <p:nvGrpSpPr>
          <p:cNvPr id="44" name="Google Shape;44;p5"/>
          <p:cNvGrpSpPr/>
          <p:nvPr/>
        </p:nvGrpSpPr>
        <p:grpSpPr>
          <a:xfrm>
            <a:off x="0" y="4762400"/>
            <a:ext cx="603997" cy="381100"/>
            <a:chOff x="0" y="4762400"/>
            <a:chExt cx="603997" cy="381100"/>
          </a:xfrm>
        </p:grpSpPr>
        <p:sp>
          <p:nvSpPr>
            <p:cNvPr id="45" name="Google Shape;45;p5"/>
            <p:cNvSpPr/>
            <p:nvPr/>
          </p:nvSpPr>
          <p:spPr>
            <a:xfrm>
              <a:off x="380497" y="4762400"/>
              <a:ext cx="223500" cy="3810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0" y="4762500"/>
              <a:ext cx="381000" cy="381000"/>
            </a:xfrm>
            <a:prstGeom prst="rect">
              <a:avLst/>
            </a:prstGeom>
            <a:gradFill>
              <a:gsLst>
                <a:gs pos="0">
                  <a:schemeClr val="accent6"/>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5"/>
          <p:cNvGrpSpPr/>
          <p:nvPr/>
        </p:nvGrpSpPr>
        <p:grpSpPr>
          <a:xfrm>
            <a:off x="381000" y="0"/>
            <a:ext cx="8763111" cy="1310918"/>
            <a:chOff x="381000" y="0"/>
            <a:chExt cx="8763111" cy="1310918"/>
          </a:xfrm>
        </p:grpSpPr>
        <p:grpSp>
          <p:nvGrpSpPr>
            <p:cNvPr id="48" name="Google Shape;48;p5"/>
            <p:cNvGrpSpPr/>
            <p:nvPr/>
          </p:nvGrpSpPr>
          <p:grpSpPr>
            <a:xfrm>
              <a:off x="381000" y="0"/>
              <a:ext cx="8763111" cy="1310300"/>
              <a:chOff x="381000" y="0"/>
              <a:chExt cx="8763111" cy="1310300"/>
            </a:xfrm>
          </p:grpSpPr>
          <p:sp>
            <p:nvSpPr>
              <p:cNvPr id="49" name="Google Shape;49;p5"/>
              <p:cNvSpPr/>
              <p:nvPr/>
            </p:nvSpPr>
            <p:spPr>
              <a:xfrm>
                <a:off x="7371879" y="0"/>
                <a:ext cx="721985" cy="1310275"/>
              </a:xfrm>
              <a:custGeom>
                <a:avLst/>
                <a:gdLst/>
                <a:ahLst/>
                <a:cxnLst/>
                <a:rect l="l" t="t" r="r" b="b"/>
                <a:pathLst>
                  <a:path w="23660" h="52411" extrusionOk="0">
                    <a:moveTo>
                      <a:pt x="23655" y="0"/>
                    </a:moveTo>
                    <a:lnTo>
                      <a:pt x="0" y="15445"/>
                    </a:lnTo>
                    <a:lnTo>
                      <a:pt x="14" y="52411"/>
                    </a:lnTo>
                    <a:lnTo>
                      <a:pt x="23660" y="42172"/>
                    </a:lnTo>
                    <a:close/>
                  </a:path>
                </a:pathLst>
              </a:custGeom>
              <a:solidFill>
                <a:schemeClr val="accent2"/>
              </a:solidFill>
              <a:ln>
                <a:noFill/>
              </a:ln>
            </p:spPr>
          </p:sp>
          <p:sp>
            <p:nvSpPr>
              <p:cNvPr id="50" name="Google Shape;50;p5"/>
              <p:cNvSpPr/>
              <p:nvPr/>
            </p:nvSpPr>
            <p:spPr>
              <a:xfrm>
                <a:off x="8090211" y="0"/>
                <a:ext cx="1053900" cy="1053900"/>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381000" y="384200"/>
                <a:ext cx="6990900" cy="926100"/>
              </a:xfrm>
              <a:prstGeom prst="rect">
                <a:avLst/>
              </a:prstGeom>
              <a:gradFill>
                <a:gsLst>
                  <a:gs pos="0">
                    <a:schemeClr val="accent2"/>
                  </a:gs>
                  <a:gs pos="7300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 name="Google Shape;52;p5"/>
            <p:cNvGrpSpPr/>
            <p:nvPr/>
          </p:nvGrpSpPr>
          <p:grpSpPr>
            <a:xfrm>
              <a:off x="381000" y="967217"/>
              <a:ext cx="8763100" cy="343701"/>
              <a:chOff x="381000" y="862358"/>
              <a:chExt cx="8763100" cy="576872"/>
            </a:xfrm>
          </p:grpSpPr>
          <p:sp>
            <p:nvSpPr>
              <p:cNvPr id="53" name="Google Shape;53;p5"/>
              <p:cNvSpPr/>
              <p:nvPr/>
            </p:nvSpPr>
            <p:spPr>
              <a:xfrm>
                <a:off x="7370250" y="863755"/>
                <a:ext cx="719800" cy="575475"/>
              </a:xfrm>
              <a:custGeom>
                <a:avLst/>
                <a:gdLst/>
                <a:ahLst/>
                <a:cxnLst/>
                <a:rect l="l" t="t" r="r" b="b"/>
                <a:pathLst>
                  <a:path w="28792" h="23019" extrusionOk="0">
                    <a:moveTo>
                      <a:pt x="28792" y="0"/>
                    </a:moveTo>
                    <a:lnTo>
                      <a:pt x="53" y="17878"/>
                    </a:lnTo>
                    <a:lnTo>
                      <a:pt x="0" y="23019"/>
                    </a:lnTo>
                    <a:lnTo>
                      <a:pt x="28792" y="5853"/>
                    </a:lnTo>
                    <a:close/>
                  </a:path>
                </a:pathLst>
              </a:custGeom>
              <a:solidFill>
                <a:srgbClr val="001F46">
                  <a:alpha val="20110"/>
                </a:srgbClr>
              </a:solidFill>
              <a:ln>
                <a:noFill/>
              </a:ln>
            </p:spPr>
          </p:sp>
          <p:sp>
            <p:nvSpPr>
              <p:cNvPr id="54" name="Google Shape;54;p5"/>
              <p:cNvSpPr/>
              <p:nvPr/>
            </p:nvSpPr>
            <p:spPr>
              <a:xfrm>
                <a:off x="8090200" y="862358"/>
                <a:ext cx="1053900" cy="145500"/>
              </a:xfrm>
              <a:prstGeom prst="rect">
                <a:avLst/>
              </a:prstGeom>
              <a:solidFill>
                <a:srgbClr val="001F46">
                  <a:alpha val="20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381000" y="1310303"/>
                <a:ext cx="6990900" cy="127800"/>
              </a:xfrm>
              <a:prstGeom prst="rect">
                <a:avLst/>
              </a:prstGeom>
              <a:solidFill>
                <a:srgbClr val="001F46">
                  <a:alpha val="20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6" name="Google Shape;56;p5"/>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7" name="Google Shape;57;p5"/>
          <p:cNvSpPr txBox="1">
            <a:spLocks noGrp="1"/>
          </p:cNvSpPr>
          <p:nvPr>
            <p:ph type="body" idx="1"/>
          </p:nvPr>
        </p:nvSpPr>
        <p:spPr>
          <a:xfrm>
            <a:off x="614975" y="1705175"/>
            <a:ext cx="6757800" cy="2826600"/>
          </a:xfrm>
          <a:prstGeom prst="rect">
            <a:avLst/>
          </a:prstGeom>
        </p:spPr>
        <p:txBody>
          <a:bodyPr spcFirstLastPara="1" wrap="square" lIns="0" tIns="0" rIns="0" bIns="0" anchor="t" anchorCtr="0">
            <a:noAutofit/>
          </a:bodyPr>
          <a:lstStyle>
            <a:lvl1pPr marL="457200" lvl="0" indent="-381000" rtl="0">
              <a:spcBef>
                <a:spcPts val="600"/>
              </a:spcBef>
              <a:spcAft>
                <a:spcPts val="0"/>
              </a:spcAft>
              <a:buSzPts val="24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81000" rtl="0">
              <a:spcBef>
                <a:spcPts val="0"/>
              </a:spcBef>
              <a:spcAft>
                <a:spcPts val="0"/>
              </a:spcAft>
              <a:buSzPts val="2400"/>
              <a:buChar char="●"/>
              <a:defRPr/>
            </a:lvl4pPr>
            <a:lvl5pPr marL="2286000" lvl="4" indent="-381000" rtl="0">
              <a:spcBef>
                <a:spcPts val="0"/>
              </a:spcBef>
              <a:spcAft>
                <a:spcPts val="0"/>
              </a:spcAft>
              <a:buSzPts val="2400"/>
              <a:buChar char="○"/>
              <a:defRPr/>
            </a:lvl5pPr>
            <a:lvl6pPr marL="2743200" lvl="5" indent="-381000" rtl="0">
              <a:spcBef>
                <a:spcPts val="0"/>
              </a:spcBef>
              <a:spcAft>
                <a:spcPts val="0"/>
              </a:spcAft>
              <a:buSzPts val="2400"/>
              <a:buChar char="■"/>
              <a:defRPr/>
            </a:lvl6pPr>
            <a:lvl7pPr marL="3200400" lvl="6" indent="-381000" rtl="0">
              <a:spcBef>
                <a:spcPts val="0"/>
              </a:spcBef>
              <a:spcAft>
                <a:spcPts val="0"/>
              </a:spcAft>
              <a:buSzPts val="2400"/>
              <a:buChar char="●"/>
              <a:defRPr/>
            </a:lvl7pPr>
            <a:lvl8pPr marL="3657600" lvl="7" indent="-381000" rtl="0">
              <a:spcBef>
                <a:spcPts val="0"/>
              </a:spcBef>
              <a:spcAft>
                <a:spcPts val="0"/>
              </a:spcAft>
              <a:buSzPts val="2400"/>
              <a:buChar char="○"/>
              <a:defRPr/>
            </a:lvl8pPr>
            <a:lvl9pPr marL="4114800" lvl="8" indent="-381000" rtl="0">
              <a:spcBef>
                <a:spcPts val="0"/>
              </a:spcBef>
              <a:spcAft>
                <a:spcPts val="0"/>
              </a:spcAft>
              <a:buSzPts val="2400"/>
              <a:buChar char="■"/>
              <a:defRPr/>
            </a:lvl9pPr>
          </a:lstStyle>
          <a:p>
            <a:endParaRPr/>
          </a:p>
        </p:txBody>
      </p:sp>
      <p:sp>
        <p:nvSpPr>
          <p:cNvPr id="58" name="Google Shape;58;p5"/>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1 column + Image">
  <p:cSld name="TITLE_AND_BODY_1">
    <p:spTree>
      <p:nvGrpSpPr>
        <p:cNvPr id="1" name="Shape 59"/>
        <p:cNvGrpSpPr/>
        <p:nvPr/>
      </p:nvGrpSpPr>
      <p:grpSpPr>
        <a:xfrm>
          <a:off x="0" y="0"/>
          <a:ext cx="0" cy="0"/>
          <a:chOff x="0" y="0"/>
          <a:chExt cx="0" cy="0"/>
        </a:xfrm>
      </p:grpSpPr>
      <p:grpSp>
        <p:nvGrpSpPr>
          <p:cNvPr id="60" name="Google Shape;60;p6"/>
          <p:cNvGrpSpPr/>
          <p:nvPr/>
        </p:nvGrpSpPr>
        <p:grpSpPr>
          <a:xfrm>
            <a:off x="0" y="4762400"/>
            <a:ext cx="603997" cy="381100"/>
            <a:chOff x="0" y="4762400"/>
            <a:chExt cx="603997" cy="381100"/>
          </a:xfrm>
        </p:grpSpPr>
        <p:sp>
          <p:nvSpPr>
            <p:cNvPr id="61" name="Google Shape;61;p6"/>
            <p:cNvSpPr/>
            <p:nvPr/>
          </p:nvSpPr>
          <p:spPr>
            <a:xfrm>
              <a:off x="380497" y="4762400"/>
              <a:ext cx="223500" cy="3810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a:off x="0" y="4762500"/>
              <a:ext cx="381000" cy="381000"/>
            </a:xfrm>
            <a:prstGeom prst="rect">
              <a:avLst/>
            </a:prstGeom>
            <a:gradFill>
              <a:gsLst>
                <a:gs pos="0">
                  <a:schemeClr val="accent6"/>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6"/>
          <p:cNvSpPr txBox="1">
            <a:spLocks noGrp="1"/>
          </p:cNvSpPr>
          <p:nvPr>
            <p:ph type="title"/>
          </p:nvPr>
        </p:nvSpPr>
        <p:spPr>
          <a:xfrm>
            <a:off x="614975" y="391350"/>
            <a:ext cx="3613200" cy="919500"/>
          </a:xfrm>
          <a:prstGeom prst="rect">
            <a:avLst/>
          </a:prstGeom>
        </p:spPr>
        <p:txBody>
          <a:bodyPr spcFirstLastPara="1" wrap="square" lIns="0" tIns="0" rIns="0" bIns="0" anchor="t" anchorCtr="0">
            <a:noAutofit/>
          </a:bodyPr>
          <a:lstStyle>
            <a:lvl1pPr lvl="0" rtl="0">
              <a:spcBef>
                <a:spcPts val="0"/>
              </a:spcBef>
              <a:spcAft>
                <a:spcPts val="0"/>
              </a:spcAft>
              <a:buClr>
                <a:schemeClr val="accent1"/>
              </a:buClr>
              <a:buSzPts val="3000"/>
              <a:buNone/>
              <a:defRPr>
                <a:solidFill>
                  <a:schemeClr val="accent1"/>
                </a:solidFill>
              </a:defRPr>
            </a:lvl1pPr>
            <a:lvl2pPr lvl="1" rtl="0">
              <a:spcBef>
                <a:spcPts val="0"/>
              </a:spcBef>
              <a:spcAft>
                <a:spcPts val="0"/>
              </a:spcAft>
              <a:buClr>
                <a:schemeClr val="accent1"/>
              </a:buClr>
              <a:buSzPts val="3000"/>
              <a:buNone/>
              <a:defRPr>
                <a:solidFill>
                  <a:schemeClr val="accent1"/>
                </a:solidFill>
              </a:defRPr>
            </a:lvl2pPr>
            <a:lvl3pPr lvl="2" rtl="0">
              <a:spcBef>
                <a:spcPts val="0"/>
              </a:spcBef>
              <a:spcAft>
                <a:spcPts val="0"/>
              </a:spcAft>
              <a:buClr>
                <a:schemeClr val="accent1"/>
              </a:buClr>
              <a:buSzPts val="3000"/>
              <a:buNone/>
              <a:defRPr>
                <a:solidFill>
                  <a:schemeClr val="accent1"/>
                </a:solidFill>
              </a:defRPr>
            </a:lvl3pPr>
            <a:lvl4pPr lvl="3" rtl="0">
              <a:spcBef>
                <a:spcPts val="0"/>
              </a:spcBef>
              <a:spcAft>
                <a:spcPts val="0"/>
              </a:spcAft>
              <a:buClr>
                <a:schemeClr val="accent1"/>
              </a:buClr>
              <a:buSzPts val="3000"/>
              <a:buNone/>
              <a:defRPr>
                <a:solidFill>
                  <a:schemeClr val="accent1"/>
                </a:solidFill>
              </a:defRPr>
            </a:lvl4pPr>
            <a:lvl5pPr lvl="4" rtl="0">
              <a:spcBef>
                <a:spcPts val="0"/>
              </a:spcBef>
              <a:spcAft>
                <a:spcPts val="0"/>
              </a:spcAft>
              <a:buClr>
                <a:schemeClr val="accent1"/>
              </a:buClr>
              <a:buSzPts val="3000"/>
              <a:buNone/>
              <a:defRPr>
                <a:solidFill>
                  <a:schemeClr val="accent1"/>
                </a:solidFill>
              </a:defRPr>
            </a:lvl5pPr>
            <a:lvl6pPr lvl="5" rtl="0">
              <a:spcBef>
                <a:spcPts val="0"/>
              </a:spcBef>
              <a:spcAft>
                <a:spcPts val="0"/>
              </a:spcAft>
              <a:buClr>
                <a:schemeClr val="accent1"/>
              </a:buClr>
              <a:buSzPts val="3000"/>
              <a:buNone/>
              <a:defRPr>
                <a:solidFill>
                  <a:schemeClr val="accent1"/>
                </a:solidFill>
              </a:defRPr>
            </a:lvl6pPr>
            <a:lvl7pPr lvl="6" rtl="0">
              <a:spcBef>
                <a:spcPts val="0"/>
              </a:spcBef>
              <a:spcAft>
                <a:spcPts val="0"/>
              </a:spcAft>
              <a:buClr>
                <a:schemeClr val="accent1"/>
              </a:buClr>
              <a:buSzPts val="3000"/>
              <a:buNone/>
              <a:defRPr>
                <a:solidFill>
                  <a:schemeClr val="accent1"/>
                </a:solidFill>
              </a:defRPr>
            </a:lvl7pPr>
            <a:lvl8pPr lvl="7" rtl="0">
              <a:spcBef>
                <a:spcPts val="0"/>
              </a:spcBef>
              <a:spcAft>
                <a:spcPts val="0"/>
              </a:spcAft>
              <a:buClr>
                <a:schemeClr val="accent1"/>
              </a:buClr>
              <a:buSzPts val="3000"/>
              <a:buNone/>
              <a:defRPr>
                <a:solidFill>
                  <a:schemeClr val="accent1"/>
                </a:solidFill>
              </a:defRPr>
            </a:lvl8pPr>
            <a:lvl9pPr lvl="8" rtl="0">
              <a:spcBef>
                <a:spcPts val="0"/>
              </a:spcBef>
              <a:spcAft>
                <a:spcPts val="0"/>
              </a:spcAft>
              <a:buClr>
                <a:schemeClr val="accent1"/>
              </a:buClr>
              <a:buSzPts val="3000"/>
              <a:buNone/>
              <a:defRPr>
                <a:solidFill>
                  <a:schemeClr val="accent1"/>
                </a:solidFill>
              </a:defRPr>
            </a:lvl9pPr>
          </a:lstStyle>
          <a:p>
            <a:endParaRPr/>
          </a:p>
        </p:txBody>
      </p:sp>
      <p:sp>
        <p:nvSpPr>
          <p:cNvPr id="64" name="Google Shape;64;p6"/>
          <p:cNvSpPr txBox="1">
            <a:spLocks noGrp="1"/>
          </p:cNvSpPr>
          <p:nvPr>
            <p:ph type="body" idx="1"/>
          </p:nvPr>
        </p:nvSpPr>
        <p:spPr>
          <a:xfrm>
            <a:off x="614975" y="1476575"/>
            <a:ext cx="3613200" cy="2826600"/>
          </a:xfrm>
          <a:prstGeom prst="rect">
            <a:avLst/>
          </a:prstGeom>
        </p:spPr>
        <p:txBody>
          <a:bodyPr spcFirstLastPara="1" wrap="square" lIns="0" tIns="0" rIns="0" bIns="0" anchor="t" anchorCtr="0">
            <a:noAutofit/>
          </a:bodyPr>
          <a:lstStyle>
            <a:lvl1pPr marL="457200" lvl="0" indent="-381000" rtl="0">
              <a:spcBef>
                <a:spcPts val="600"/>
              </a:spcBef>
              <a:spcAft>
                <a:spcPts val="0"/>
              </a:spcAft>
              <a:buSzPts val="24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81000" rtl="0">
              <a:spcBef>
                <a:spcPts val="0"/>
              </a:spcBef>
              <a:spcAft>
                <a:spcPts val="0"/>
              </a:spcAft>
              <a:buSzPts val="2400"/>
              <a:buChar char="●"/>
              <a:defRPr/>
            </a:lvl4pPr>
            <a:lvl5pPr marL="2286000" lvl="4" indent="-381000" rtl="0">
              <a:spcBef>
                <a:spcPts val="0"/>
              </a:spcBef>
              <a:spcAft>
                <a:spcPts val="0"/>
              </a:spcAft>
              <a:buSzPts val="2400"/>
              <a:buChar char="○"/>
              <a:defRPr/>
            </a:lvl5pPr>
            <a:lvl6pPr marL="2743200" lvl="5" indent="-381000" rtl="0">
              <a:spcBef>
                <a:spcPts val="0"/>
              </a:spcBef>
              <a:spcAft>
                <a:spcPts val="0"/>
              </a:spcAft>
              <a:buSzPts val="2400"/>
              <a:buChar char="■"/>
              <a:defRPr/>
            </a:lvl6pPr>
            <a:lvl7pPr marL="3200400" lvl="6" indent="-381000" rtl="0">
              <a:spcBef>
                <a:spcPts val="0"/>
              </a:spcBef>
              <a:spcAft>
                <a:spcPts val="0"/>
              </a:spcAft>
              <a:buSzPts val="2400"/>
              <a:buChar char="●"/>
              <a:defRPr/>
            </a:lvl7pPr>
            <a:lvl8pPr marL="3657600" lvl="7" indent="-381000" rtl="0">
              <a:spcBef>
                <a:spcPts val="0"/>
              </a:spcBef>
              <a:spcAft>
                <a:spcPts val="0"/>
              </a:spcAft>
              <a:buSzPts val="2400"/>
              <a:buChar char="○"/>
              <a:defRPr/>
            </a:lvl8pPr>
            <a:lvl9pPr marL="4114800" lvl="8" indent="-381000" rtl="0">
              <a:spcBef>
                <a:spcPts val="0"/>
              </a:spcBef>
              <a:spcAft>
                <a:spcPts val="0"/>
              </a:spcAft>
              <a:buSzPts val="2400"/>
              <a:buChar char="■"/>
              <a:defRPr/>
            </a:lvl9pPr>
          </a:lstStyle>
          <a:p>
            <a:endParaRPr/>
          </a:p>
        </p:txBody>
      </p:sp>
      <p:sp>
        <p:nvSpPr>
          <p:cNvPr id="65" name="Google Shape;65;p6"/>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66" name="Google Shape;66;p6"/>
          <p:cNvGrpSpPr/>
          <p:nvPr/>
        </p:nvGrpSpPr>
        <p:grpSpPr>
          <a:xfrm rot="10800000">
            <a:off x="4572000" y="-47"/>
            <a:ext cx="4572000" cy="5157522"/>
            <a:chOff x="8" y="-13862"/>
            <a:chExt cx="4572000" cy="5157522"/>
          </a:xfrm>
        </p:grpSpPr>
        <p:sp>
          <p:nvSpPr>
            <p:cNvPr id="67" name="Google Shape;67;p6"/>
            <p:cNvSpPr/>
            <p:nvPr/>
          </p:nvSpPr>
          <p:spPr>
            <a:xfrm rot="10800000">
              <a:off x="8" y="160"/>
              <a:ext cx="377100" cy="5143500"/>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p:nvPr/>
          </p:nvSpPr>
          <p:spPr>
            <a:xfrm>
              <a:off x="366508" y="-13862"/>
              <a:ext cx="267425" cy="5157350"/>
            </a:xfrm>
            <a:custGeom>
              <a:avLst/>
              <a:gdLst/>
              <a:ahLst/>
              <a:cxnLst/>
              <a:rect l="l" t="t" r="r" b="b"/>
              <a:pathLst>
                <a:path w="10697" h="206294" extrusionOk="0">
                  <a:moveTo>
                    <a:pt x="369" y="206294"/>
                  </a:moveTo>
                  <a:lnTo>
                    <a:pt x="10697" y="190844"/>
                  </a:lnTo>
                  <a:lnTo>
                    <a:pt x="10623" y="15934"/>
                  </a:lnTo>
                  <a:lnTo>
                    <a:pt x="0" y="0"/>
                  </a:lnTo>
                  <a:close/>
                </a:path>
              </a:pathLst>
            </a:custGeom>
            <a:solidFill>
              <a:schemeClr val="accent2"/>
            </a:solidFill>
            <a:ln>
              <a:noFill/>
            </a:ln>
          </p:spPr>
        </p:sp>
        <p:sp>
          <p:nvSpPr>
            <p:cNvPr id="69" name="Google Shape;69;p6"/>
            <p:cNvSpPr/>
            <p:nvPr/>
          </p:nvSpPr>
          <p:spPr>
            <a:xfrm rot="10800000">
              <a:off x="633908" y="382913"/>
              <a:ext cx="3938100" cy="4376400"/>
            </a:xfrm>
            <a:prstGeom prst="rect">
              <a:avLst/>
            </a:prstGeom>
            <a:gradFill>
              <a:gsLst>
                <a:gs pos="0">
                  <a:schemeClr val="accent2"/>
                </a:gs>
                <a:gs pos="7300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5"/>
        <p:cNvGrpSpPr/>
        <p:nvPr/>
      </p:nvGrpSpPr>
      <p:grpSpPr>
        <a:xfrm>
          <a:off x="0" y="0"/>
          <a:ext cx="0" cy="0"/>
          <a:chOff x="0" y="0"/>
          <a:chExt cx="0" cy="0"/>
        </a:xfrm>
      </p:grpSpPr>
      <p:grpSp>
        <p:nvGrpSpPr>
          <p:cNvPr id="106" name="Google Shape;106;p9"/>
          <p:cNvGrpSpPr/>
          <p:nvPr/>
        </p:nvGrpSpPr>
        <p:grpSpPr>
          <a:xfrm>
            <a:off x="0" y="4762400"/>
            <a:ext cx="603997" cy="381100"/>
            <a:chOff x="0" y="4762400"/>
            <a:chExt cx="603997" cy="381100"/>
          </a:xfrm>
        </p:grpSpPr>
        <p:sp>
          <p:nvSpPr>
            <p:cNvPr id="107" name="Google Shape;107;p9"/>
            <p:cNvSpPr/>
            <p:nvPr/>
          </p:nvSpPr>
          <p:spPr>
            <a:xfrm>
              <a:off x="380497" y="4762400"/>
              <a:ext cx="223500" cy="3810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9"/>
            <p:cNvSpPr/>
            <p:nvPr/>
          </p:nvSpPr>
          <p:spPr>
            <a:xfrm>
              <a:off x="0" y="4762500"/>
              <a:ext cx="381000" cy="381000"/>
            </a:xfrm>
            <a:prstGeom prst="rect">
              <a:avLst/>
            </a:prstGeom>
            <a:gradFill>
              <a:gsLst>
                <a:gs pos="0">
                  <a:schemeClr val="accent6"/>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 name="Google Shape;109;p9"/>
          <p:cNvGrpSpPr/>
          <p:nvPr/>
        </p:nvGrpSpPr>
        <p:grpSpPr>
          <a:xfrm>
            <a:off x="381000" y="0"/>
            <a:ext cx="8763111" cy="1310918"/>
            <a:chOff x="381000" y="0"/>
            <a:chExt cx="8763111" cy="1310918"/>
          </a:xfrm>
        </p:grpSpPr>
        <p:grpSp>
          <p:nvGrpSpPr>
            <p:cNvPr id="110" name="Google Shape;110;p9"/>
            <p:cNvGrpSpPr/>
            <p:nvPr/>
          </p:nvGrpSpPr>
          <p:grpSpPr>
            <a:xfrm>
              <a:off x="381000" y="0"/>
              <a:ext cx="8763111" cy="1310300"/>
              <a:chOff x="381000" y="0"/>
              <a:chExt cx="8763111" cy="1310300"/>
            </a:xfrm>
          </p:grpSpPr>
          <p:sp>
            <p:nvSpPr>
              <p:cNvPr id="111" name="Google Shape;111;p9"/>
              <p:cNvSpPr/>
              <p:nvPr/>
            </p:nvSpPr>
            <p:spPr>
              <a:xfrm>
                <a:off x="7371879" y="0"/>
                <a:ext cx="721985" cy="1310275"/>
              </a:xfrm>
              <a:custGeom>
                <a:avLst/>
                <a:gdLst/>
                <a:ahLst/>
                <a:cxnLst/>
                <a:rect l="l" t="t" r="r" b="b"/>
                <a:pathLst>
                  <a:path w="23660" h="52411" extrusionOk="0">
                    <a:moveTo>
                      <a:pt x="23655" y="0"/>
                    </a:moveTo>
                    <a:lnTo>
                      <a:pt x="0" y="15445"/>
                    </a:lnTo>
                    <a:lnTo>
                      <a:pt x="14" y="52411"/>
                    </a:lnTo>
                    <a:lnTo>
                      <a:pt x="23660" y="42172"/>
                    </a:lnTo>
                    <a:close/>
                  </a:path>
                </a:pathLst>
              </a:custGeom>
              <a:solidFill>
                <a:schemeClr val="accent2"/>
              </a:solidFill>
              <a:ln>
                <a:noFill/>
              </a:ln>
            </p:spPr>
          </p:sp>
          <p:sp>
            <p:nvSpPr>
              <p:cNvPr id="112" name="Google Shape;112;p9"/>
              <p:cNvSpPr/>
              <p:nvPr/>
            </p:nvSpPr>
            <p:spPr>
              <a:xfrm>
                <a:off x="8090211" y="0"/>
                <a:ext cx="1053900" cy="1053900"/>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9"/>
              <p:cNvSpPr/>
              <p:nvPr/>
            </p:nvSpPr>
            <p:spPr>
              <a:xfrm>
                <a:off x="381000" y="384200"/>
                <a:ext cx="6990900" cy="926100"/>
              </a:xfrm>
              <a:prstGeom prst="rect">
                <a:avLst/>
              </a:prstGeom>
              <a:gradFill>
                <a:gsLst>
                  <a:gs pos="0">
                    <a:schemeClr val="accent2"/>
                  </a:gs>
                  <a:gs pos="7300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 name="Google Shape;114;p9"/>
            <p:cNvGrpSpPr/>
            <p:nvPr/>
          </p:nvGrpSpPr>
          <p:grpSpPr>
            <a:xfrm>
              <a:off x="381000" y="967217"/>
              <a:ext cx="8763100" cy="343701"/>
              <a:chOff x="381000" y="862358"/>
              <a:chExt cx="8763100" cy="576872"/>
            </a:xfrm>
          </p:grpSpPr>
          <p:sp>
            <p:nvSpPr>
              <p:cNvPr id="115" name="Google Shape;115;p9"/>
              <p:cNvSpPr/>
              <p:nvPr/>
            </p:nvSpPr>
            <p:spPr>
              <a:xfrm>
                <a:off x="7370250" y="863755"/>
                <a:ext cx="719800" cy="575475"/>
              </a:xfrm>
              <a:custGeom>
                <a:avLst/>
                <a:gdLst/>
                <a:ahLst/>
                <a:cxnLst/>
                <a:rect l="l" t="t" r="r" b="b"/>
                <a:pathLst>
                  <a:path w="28792" h="23019" extrusionOk="0">
                    <a:moveTo>
                      <a:pt x="28792" y="0"/>
                    </a:moveTo>
                    <a:lnTo>
                      <a:pt x="53" y="17878"/>
                    </a:lnTo>
                    <a:lnTo>
                      <a:pt x="0" y="23019"/>
                    </a:lnTo>
                    <a:lnTo>
                      <a:pt x="28792" y="5853"/>
                    </a:lnTo>
                    <a:close/>
                  </a:path>
                </a:pathLst>
              </a:custGeom>
              <a:solidFill>
                <a:srgbClr val="001F46">
                  <a:alpha val="20110"/>
                </a:srgbClr>
              </a:solidFill>
              <a:ln>
                <a:noFill/>
              </a:ln>
            </p:spPr>
          </p:sp>
          <p:sp>
            <p:nvSpPr>
              <p:cNvPr id="116" name="Google Shape;116;p9"/>
              <p:cNvSpPr/>
              <p:nvPr/>
            </p:nvSpPr>
            <p:spPr>
              <a:xfrm>
                <a:off x="8090200" y="862358"/>
                <a:ext cx="1053900" cy="145500"/>
              </a:xfrm>
              <a:prstGeom prst="rect">
                <a:avLst/>
              </a:prstGeom>
              <a:solidFill>
                <a:srgbClr val="001F46">
                  <a:alpha val="20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p:cNvSpPr/>
              <p:nvPr/>
            </p:nvSpPr>
            <p:spPr>
              <a:xfrm>
                <a:off x="381000" y="1310303"/>
                <a:ext cx="6990900" cy="127800"/>
              </a:xfrm>
              <a:prstGeom prst="rect">
                <a:avLst/>
              </a:prstGeom>
              <a:solidFill>
                <a:srgbClr val="001F46">
                  <a:alpha val="20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8" name="Google Shape;118;p9"/>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9" name="Google Shape;119;p9"/>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2"/>
        <p:cNvGrpSpPr/>
        <p:nvPr/>
      </p:nvGrpSpPr>
      <p:grpSpPr>
        <a:xfrm>
          <a:off x="0" y="0"/>
          <a:ext cx="0" cy="0"/>
          <a:chOff x="0" y="0"/>
          <a:chExt cx="0" cy="0"/>
        </a:xfrm>
      </p:grpSpPr>
      <p:grpSp>
        <p:nvGrpSpPr>
          <p:cNvPr id="133" name="Google Shape;133;p11"/>
          <p:cNvGrpSpPr/>
          <p:nvPr/>
        </p:nvGrpSpPr>
        <p:grpSpPr>
          <a:xfrm>
            <a:off x="0" y="4762400"/>
            <a:ext cx="603997" cy="381100"/>
            <a:chOff x="0" y="4762400"/>
            <a:chExt cx="603997" cy="381100"/>
          </a:xfrm>
        </p:grpSpPr>
        <p:sp>
          <p:nvSpPr>
            <p:cNvPr id="134" name="Google Shape;134;p11"/>
            <p:cNvSpPr/>
            <p:nvPr/>
          </p:nvSpPr>
          <p:spPr>
            <a:xfrm>
              <a:off x="380497" y="4762400"/>
              <a:ext cx="223500" cy="3810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1"/>
            <p:cNvSpPr/>
            <p:nvPr/>
          </p:nvSpPr>
          <p:spPr>
            <a:xfrm>
              <a:off x="0" y="4762500"/>
              <a:ext cx="381000" cy="381000"/>
            </a:xfrm>
            <a:prstGeom prst="rect">
              <a:avLst/>
            </a:prstGeom>
            <a:gradFill>
              <a:gsLst>
                <a:gs pos="0">
                  <a:schemeClr val="accent6"/>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11"/>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37" name="Google Shape;137;p11"/>
          <p:cNvGrpSpPr/>
          <p:nvPr/>
        </p:nvGrpSpPr>
        <p:grpSpPr>
          <a:xfrm rot="10800000">
            <a:off x="125800" y="4"/>
            <a:ext cx="9018200" cy="468805"/>
            <a:chOff x="8" y="4674804"/>
            <a:chExt cx="9018200" cy="468805"/>
          </a:xfrm>
        </p:grpSpPr>
        <p:sp>
          <p:nvSpPr>
            <p:cNvPr id="138" name="Google Shape;138;p11"/>
            <p:cNvSpPr/>
            <p:nvPr/>
          </p:nvSpPr>
          <p:spPr>
            <a:xfrm rot="10800000">
              <a:off x="8" y="4766509"/>
              <a:ext cx="377100" cy="377100"/>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1"/>
            <p:cNvSpPr/>
            <p:nvPr/>
          </p:nvSpPr>
          <p:spPr>
            <a:xfrm rot="10800000">
              <a:off x="375687" y="4674804"/>
              <a:ext cx="258249" cy="468685"/>
            </a:xfrm>
            <a:custGeom>
              <a:avLst/>
              <a:gdLst/>
              <a:ahLst/>
              <a:cxnLst/>
              <a:rect l="l" t="t" r="r" b="b"/>
              <a:pathLst>
                <a:path w="23660" h="52411" extrusionOk="0">
                  <a:moveTo>
                    <a:pt x="23655" y="0"/>
                  </a:moveTo>
                  <a:lnTo>
                    <a:pt x="0" y="15445"/>
                  </a:lnTo>
                  <a:lnTo>
                    <a:pt x="14" y="52411"/>
                  </a:lnTo>
                  <a:lnTo>
                    <a:pt x="23660" y="42172"/>
                  </a:lnTo>
                  <a:close/>
                </a:path>
              </a:pathLst>
            </a:custGeom>
            <a:solidFill>
              <a:schemeClr val="accent2"/>
            </a:solidFill>
            <a:ln>
              <a:noFill/>
            </a:ln>
          </p:spPr>
        </p:sp>
        <p:sp>
          <p:nvSpPr>
            <p:cNvPr id="140" name="Google Shape;140;p11"/>
            <p:cNvSpPr/>
            <p:nvPr/>
          </p:nvSpPr>
          <p:spPr>
            <a:xfrm rot="10800000">
              <a:off x="633808" y="4674838"/>
              <a:ext cx="8384400" cy="331200"/>
            </a:xfrm>
            <a:prstGeom prst="rect">
              <a:avLst/>
            </a:prstGeom>
            <a:gradFill>
              <a:gsLst>
                <a:gs pos="0">
                  <a:schemeClr val="accent2"/>
                </a:gs>
                <a:gs pos="7300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with ribbon">
  <p:cSld name="BLANK_1">
    <p:spTree>
      <p:nvGrpSpPr>
        <p:cNvPr id="1" name="Shape 141"/>
        <p:cNvGrpSpPr/>
        <p:nvPr/>
      </p:nvGrpSpPr>
      <p:grpSpPr>
        <a:xfrm>
          <a:off x="0" y="0"/>
          <a:ext cx="0" cy="0"/>
          <a:chOff x="0" y="0"/>
          <a:chExt cx="0" cy="0"/>
        </a:xfrm>
      </p:grpSpPr>
      <p:grpSp>
        <p:nvGrpSpPr>
          <p:cNvPr id="142" name="Google Shape;142;p12"/>
          <p:cNvGrpSpPr/>
          <p:nvPr/>
        </p:nvGrpSpPr>
        <p:grpSpPr>
          <a:xfrm>
            <a:off x="0" y="4762400"/>
            <a:ext cx="603997" cy="381100"/>
            <a:chOff x="0" y="4762400"/>
            <a:chExt cx="603997" cy="381100"/>
          </a:xfrm>
        </p:grpSpPr>
        <p:sp>
          <p:nvSpPr>
            <p:cNvPr id="143" name="Google Shape;143;p12"/>
            <p:cNvSpPr/>
            <p:nvPr/>
          </p:nvSpPr>
          <p:spPr>
            <a:xfrm>
              <a:off x="380497" y="4762400"/>
              <a:ext cx="223500" cy="3810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2"/>
            <p:cNvSpPr/>
            <p:nvPr/>
          </p:nvSpPr>
          <p:spPr>
            <a:xfrm>
              <a:off x="0" y="4762500"/>
              <a:ext cx="381000" cy="381000"/>
            </a:xfrm>
            <a:prstGeom prst="rect">
              <a:avLst/>
            </a:prstGeom>
            <a:gradFill>
              <a:gsLst>
                <a:gs pos="0">
                  <a:schemeClr val="accent6"/>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12"/>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46" name="Google Shape;146;p12"/>
          <p:cNvGrpSpPr/>
          <p:nvPr/>
        </p:nvGrpSpPr>
        <p:grpSpPr>
          <a:xfrm rot="10800000">
            <a:off x="0" y="-47"/>
            <a:ext cx="9144000" cy="5157522"/>
            <a:chOff x="8" y="-13862"/>
            <a:chExt cx="9144000" cy="5157522"/>
          </a:xfrm>
        </p:grpSpPr>
        <p:sp>
          <p:nvSpPr>
            <p:cNvPr id="147" name="Google Shape;147;p12"/>
            <p:cNvSpPr/>
            <p:nvPr/>
          </p:nvSpPr>
          <p:spPr>
            <a:xfrm rot="10800000">
              <a:off x="8" y="160"/>
              <a:ext cx="377100" cy="5143500"/>
            </a:xfrm>
            <a:prstGeom prst="rect">
              <a:avLst/>
            </a:prstGeom>
            <a:gradFill>
              <a:gsLst>
                <a:gs pos="0">
                  <a:schemeClr val="accent1"/>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2"/>
            <p:cNvSpPr/>
            <p:nvPr/>
          </p:nvSpPr>
          <p:spPr>
            <a:xfrm>
              <a:off x="366508" y="-13862"/>
              <a:ext cx="267425" cy="5157350"/>
            </a:xfrm>
            <a:custGeom>
              <a:avLst/>
              <a:gdLst/>
              <a:ahLst/>
              <a:cxnLst/>
              <a:rect l="l" t="t" r="r" b="b"/>
              <a:pathLst>
                <a:path w="10697" h="206294" extrusionOk="0">
                  <a:moveTo>
                    <a:pt x="369" y="206294"/>
                  </a:moveTo>
                  <a:lnTo>
                    <a:pt x="10697" y="190844"/>
                  </a:lnTo>
                  <a:lnTo>
                    <a:pt x="10623" y="15934"/>
                  </a:lnTo>
                  <a:lnTo>
                    <a:pt x="0" y="0"/>
                  </a:lnTo>
                  <a:close/>
                </a:path>
              </a:pathLst>
            </a:custGeom>
            <a:solidFill>
              <a:schemeClr val="accent2"/>
            </a:solidFill>
            <a:ln>
              <a:noFill/>
            </a:ln>
          </p:spPr>
        </p:sp>
        <p:sp>
          <p:nvSpPr>
            <p:cNvPr id="149" name="Google Shape;149;p12"/>
            <p:cNvSpPr/>
            <p:nvPr/>
          </p:nvSpPr>
          <p:spPr>
            <a:xfrm rot="10800000">
              <a:off x="633908" y="382913"/>
              <a:ext cx="8510100" cy="4376400"/>
            </a:xfrm>
            <a:prstGeom prst="rect">
              <a:avLst/>
            </a:prstGeom>
            <a:gradFill>
              <a:gsLst>
                <a:gs pos="0">
                  <a:schemeClr val="accent2"/>
                </a:gs>
                <a:gs pos="73000">
                  <a:schemeClr val="accent2"/>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0" y="4762400"/>
            <a:ext cx="381000" cy="386400"/>
          </a:xfrm>
          <a:prstGeom prst="rect">
            <a:avLst/>
          </a:prstGeom>
          <a:noFill/>
          <a:ln>
            <a:noFill/>
          </a:ln>
        </p:spPr>
        <p:txBody>
          <a:bodyPr spcFirstLastPara="1" wrap="square" lIns="0" tIns="0" rIns="0" bIns="0" anchor="ctr" anchorCtr="0">
            <a:noAutofit/>
          </a:bodyPr>
          <a:lstStyle>
            <a:lvl1pPr lvl="0" algn="ctr" rtl="0">
              <a:buNone/>
              <a:defRPr sz="1100">
                <a:solidFill>
                  <a:schemeClr val="dk2"/>
                </a:solidFill>
                <a:latin typeface="Barlow SemiBold"/>
                <a:ea typeface="Barlow SemiBold"/>
                <a:cs typeface="Barlow SemiBold"/>
                <a:sym typeface="Barlow SemiBold"/>
              </a:defRPr>
            </a:lvl1pPr>
            <a:lvl2pPr lvl="1" algn="ctr" rtl="0">
              <a:buNone/>
              <a:defRPr sz="1100">
                <a:solidFill>
                  <a:schemeClr val="dk2"/>
                </a:solidFill>
                <a:latin typeface="Barlow SemiBold"/>
                <a:ea typeface="Barlow SemiBold"/>
                <a:cs typeface="Barlow SemiBold"/>
                <a:sym typeface="Barlow SemiBold"/>
              </a:defRPr>
            </a:lvl2pPr>
            <a:lvl3pPr lvl="2" algn="ctr" rtl="0">
              <a:buNone/>
              <a:defRPr sz="1100">
                <a:solidFill>
                  <a:schemeClr val="dk2"/>
                </a:solidFill>
                <a:latin typeface="Barlow SemiBold"/>
                <a:ea typeface="Barlow SemiBold"/>
                <a:cs typeface="Barlow SemiBold"/>
                <a:sym typeface="Barlow SemiBold"/>
              </a:defRPr>
            </a:lvl3pPr>
            <a:lvl4pPr lvl="3" algn="ctr" rtl="0">
              <a:buNone/>
              <a:defRPr sz="1100">
                <a:solidFill>
                  <a:schemeClr val="dk2"/>
                </a:solidFill>
                <a:latin typeface="Barlow SemiBold"/>
                <a:ea typeface="Barlow SemiBold"/>
                <a:cs typeface="Barlow SemiBold"/>
                <a:sym typeface="Barlow SemiBold"/>
              </a:defRPr>
            </a:lvl4pPr>
            <a:lvl5pPr lvl="4" algn="ctr" rtl="0">
              <a:buNone/>
              <a:defRPr sz="1100">
                <a:solidFill>
                  <a:schemeClr val="dk2"/>
                </a:solidFill>
                <a:latin typeface="Barlow SemiBold"/>
                <a:ea typeface="Barlow SemiBold"/>
                <a:cs typeface="Barlow SemiBold"/>
                <a:sym typeface="Barlow SemiBold"/>
              </a:defRPr>
            </a:lvl5pPr>
            <a:lvl6pPr lvl="5" algn="ctr" rtl="0">
              <a:buNone/>
              <a:defRPr sz="1100">
                <a:solidFill>
                  <a:schemeClr val="dk2"/>
                </a:solidFill>
                <a:latin typeface="Barlow SemiBold"/>
                <a:ea typeface="Barlow SemiBold"/>
                <a:cs typeface="Barlow SemiBold"/>
                <a:sym typeface="Barlow SemiBold"/>
              </a:defRPr>
            </a:lvl6pPr>
            <a:lvl7pPr lvl="6" algn="ctr" rtl="0">
              <a:buNone/>
              <a:defRPr sz="1100">
                <a:solidFill>
                  <a:schemeClr val="dk2"/>
                </a:solidFill>
                <a:latin typeface="Barlow SemiBold"/>
                <a:ea typeface="Barlow SemiBold"/>
                <a:cs typeface="Barlow SemiBold"/>
                <a:sym typeface="Barlow SemiBold"/>
              </a:defRPr>
            </a:lvl7pPr>
            <a:lvl8pPr lvl="7" algn="ctr" rtl="0">
              <a:buNone/>
              <a:defRPr sz="1100">
                <a:solidFill>
                  <a:schemeClr val="dk2"/>
                </a:solidFill>
                <a:latin typeface="Barlow SemiBold"/>
                <a:ea typeface="Barlow SemiBold"/>
                <a:cs typeface="Barlow SemiBold"/>
                <a:sym typeface="Barlow SemiBold"/>
              </a:defRPr>
            </a:lvl8pPr>
            <a:lvl9pPr lvl="8" algn="ctr" rtl="0">
              <a:buNone/>
              <a:defRPr sz="1100">
                <a:solidFill>
                  <a:schemeClr val="dk2"/>
                </a:solidFill>
                <a:latin typeface="Barlow SemiBold"/>
                <a:ea typeface="Barlow SemiBold"/>
                <a:cs typeface="Barlow SemiBold"/>
                <a:sym typeface="Barlow SemiBold"/>
              </a:defRPr>
            </a:lvl9pPr>
          </a:lstStyle>
          <a:p>
            <a:pPr marL="0" lvl="0" indent="0" algn="ctr" rtl="0">
              <a:spcBef>
                <a:spcPts val="0"/>
              </a:spcBef>
              <a:spcAft>
                <a:spcPts val="0"/>
              </a:spcAft>
              <a:buNone/>
            </a:pPr>
            <a:fld id="{00000000-1234-1234-1234-123412341234}" type="slidenum">
              <a:rPr lang="en"/>
              <a:t>‹#›</a:t>
            </a:fld>
            <a:endParaRPr/>
          </a:p>
        </p:txBody>
      </p:sp>
      <p:sp>
        <p:nvSpPr>
          <p:cNvPr id="7" name="Google Shape;7;p1"/>
          <p:cNvSpPr txBox="1">
            <a:spLocks noGrp="1"/>
          </p:cNvSpPr>
          <p:nvPr>
            <p:ph type="title"/>
          </p:nvPr>
        </p:nvSpPr>
        <p:spPr>
          <a:xfrm>
            <a:off x="614975" y="391350"/>
            <a:ext cx="6757800" cy="919500"/>
          </a:xfrm>
          <a:prstGeom prst="rect">
            <a:avLst/>
          </a:prstGeom>
          <a:noFill/>
          <a:ln>
            <a:noFill/>
          </a:ln>
        </p:spPr>
        <p:txBody>
          <a:bodyPr spcFirstLastPara="1" wrap="square" lIns="0" tIns="0" rIns="0" bIns="0" anchor="ctr" anchorCtr="0">
            <a:noAutofit/>
          </a:bodyPr>
          <a:lstStyle>
            <a:lvl1pPr lvl="0" rtl="0">
              <a:lnSpc>
                <a:spcPct val="90000"/>
              </a:lnSpc>
              <a:spcBef>
                <a:spcPts val="0"/>
              </a:spcBef>
              <a:spcAft>
                <a:spcPts val="0"/>
              </a:spcAft>
              <a:buClr>
                <a:schemeClr val="lt1"/>
              </a:buClr>
              <a:buSzPts val="3000"/>
              <a:buFont typeface="Barlow SemiBold"/>
              <a:buNone/>
              <a:defRPr sz="3000">
                <a:solidFill>
                  <a:schemeClr val="lt1"/>
                </a:solidFill>
                <a:latin typeface="Barlow SemiBold"/>
                <a:ea typeface="Barlow SemiBold"/>
                <a:cs typeface="Barlow SemiBold"/>
                <a:sym typeface="Barlow SemiBold"/>
              </a:defRPr>
            </a:lvl1pPr>
            <a:lvl2pPr lvl="1" rtl="0">
              <a:lnSpc>
                <a:spcPct val="90000"/>
              </a:lnSpc>
              <a:spcBef>
                <a:spcPts val="0"/>
              </a:spcBef>
              <a:spcAft>
                <a:spcPts val="0"/>
              </a:spcAft>
              <a:buClr>
                <a:schemeClr val="lt1"/>
              </a:buClr>
              <a:buSzPts val="3000"/>
              <a:buFont typeface="Barlow SemiBold"/>
              <a:buNone/>
              <a:defRPr sz="3000">
                <a:solidFill>
                  <a:schemeClr val="lt1"/>
                </a:solidFill>
                <a:latin typeface="Barlow SemiBold"/>
                <a:ea typeface="Barlow SemiBold"/>
                <a:cs typeface="Barlow SemiBold"/>
                <a:sym typeface="Barlow SemiBold"/>
              </a:defRPr>
            </a:lvl2pPr>
            <a:lvl3pPr lvl="2" rtl="0">
              <a:lnSpc>
                <a:spcPct val="90000"/>
              </a:lnSpc>
              <a:spcBef>
                <a:spcPts val="0"/>
              </a:spcBef>
              <a:spcAft>
                <a:spcPts val="0"/>
              </a:spcAft>
              <a:buClr>
                <a:schemeClr val="lt1"/>
              </a:buClr>
              <a:buSzPts val="3000"/>
              <a:buFont typeface="Barlow SemiBold"/>
              <a:buNone/>
              <a:defRPr sz="3000">
                <a:solidFill>
                  <a:schemeClr val="lt1"/>
                </a:solidFill>
                <a:latin typeface="Barlow SemiBold"/>
                <a:ea typeface="Barlow SemiBold"/>
                <a:cs typeface="Barlow SemiBold"/>
                <a:sym typeface="Barlow SemiBold"/>
              </a:defRPr>
            </a:lvl3pPr>
            <a:lvl4pPr lvl="3" rtl="0">
              <a:lnSpc>
                <a:spcPct val="90000"/>
              </a:lnSpc>
              <a:spcBef>
                <a:spcPts val="0"/>
              </a:spcBef>
              <a:spcAft>
                <a:spcPts val="0"/>
              </a:spcAft>
              <a:buClr>
                <a:schemeClr val="lt1"/>
              </a:buClr>
              <a:buSzPts val="3000"/>
              <a:buFont typeface="Barlow SemiBold"/>
              <a:buNone/>
              <a:defRPr sz="3000">
                <a:solidFill>
                  <a:schemeClr val="lt1"/>
                </a:solidFill>
                <a:latin typeface="Barlow SemiBold"/>
                <a:ea typeface="Barlow SemiBold"/>
                <a:cs typeface="Barlow SemiBold"/>
                <a:sym typeface="Barlow SemiBold"/>
              </a:defRPr>
            </a:lvl4pPr>
            <a:lvl5pPr lvl="4" rtl="0">
              <a:lnSpc>
                <a:spcPct val="90000"/>
              </a:lnSpc>
              <a:spcBef>
                <a:spcPts val="0"/>
              </a:spcBef>
              <a:spcAft>
                <a:spcPts val="0"/>
              </a:spcAft>
              <a:buClr>
                <a:schemeClr val="lt1"/>
              </a:buClr>
              <a:buSzPts val="3000"/>
              <a:buFont typeface="Barlow SemiBold"/>
              <a:buNone/>
              <a:defRPr sz="3000">
                <a:solidFill>
                  <a:schemeClr val="lt1"/>
                </a:solidFill>
                <a:latin typeface="Barlow SemiBold"/>
                <a:ea typeface="Barlow SemiBold"/>
                <a:cs typeface="Barlow SemiBold"/>
                <a:sym typeface="Barlow SemiBold"/>
              </a:defRPr>
            </a:lvl5pPr>
            <a:lvl6pPr lvl="5" rtl="0">
              <a:lnSpc>
                <a:spcPct val="90000"/>
              </a:lnSpc>
              <a:spcBef>
                <a:spcPts val="0"/>
              </a:spcBef>
              <a:spcAft>
                <a:spcPts val="0"/>
              </a:spcAft>
              <a:buClr>
                <a:schemeClr val="lt1"/>
              </a:buClr>
              <a:buSzPts val="3000"/>
              <a:buFont typeface="Barlow SemiBold"/>
              <a:buNone/>
              <a:defRPr sz="3000">
                <a:solidFill>
                  <a:schemeClr val="lt1"/>
                </a:solidFill>
                <a:latin typeface="Barlow SemiBold"/>
                <a:ea typeface="Barlow SemiBold"/>
                <a:cs typeface="Barlow SemiBold"/>
                <a:sym typeface="Barlow SemiBold"/>
              </a:defRPr>
            </a:lvl6pPr>
            <a:lvl7pPr lvl="6" rtl="0">
              <a:lnSpc>
                <a:spcPct val="90000"/>
              </a:lnSpc>
              <a:spcBef>
                <a:spcPts val="0"/>
              </a:spcBef>
              <a:spcAft>
                <a:spcPts val="0"/>
              </a:spcAft>
              <a:buClr>
                <a:schemeClr val="lt1"/>
              </a:buClr>
              <a:buSzPts val="3000"/>
              <a:buFont typeface="Barlow SemiBold"/>
              <a:buNone/>
              <a:defRPr sz="3000">
                <a:solidFill>
                  <a:schemeClr val="lt1"/>
                </a:solidFill>
                <a:latin typeface="Barlow SemiBold"/>
                <a:ea typeface="Barlow SemiBold"/>
                <a:cs typeface="Barlow SemiBold"/>
                <a:sym typeface="Barlow SemiBold"/>
              </a:defRPr>
            </a:lvl7pPr>
            <a:lvl8pPr lvl="7" rtl="0">
              <a:lnSpc>
                <a:spcPct val="90000"/>
              </a:lnSpc>
              <a:spcBef>
                <a:spcPts val="0"/>
              </a:spcBef>
              <a:spcAft>
                <a:spcPts val="0"/>
              </a:spcAft>
              <a:buClr>
                <a:schemeClr val="lt1"/>
              </a:buClr>
              <a:buSzPts val="3000"/>
              <a:buFont typeface="Barlow SemiBold"/>
              <a:buNone/>
              <a:defRPr sz="3000">
                <a:solidFill>
                  <a:schemeClr val="lt1"/>
                </a:solidFill>
                <a:latin typeface="Barlow SemiBold"/>
                <a:ea typeface="Barlow SemiBold"/>
                <a:cs typeface="Barlow SemiBold"/>
                <a:sym typeface="Barlow SemiBold"/>
              </a:defRPr>
            </a:lvl8pPr>
            <a:lvl9pPr lvl="8" rtl="0">
              <a:lnSpc>
                <a:spcPct val="90000"/>
              </a:lnSpc>
              <a:spcBef>
                <a:spcPts val="0"/>
              </a:spcBef>
              <a:spcAft>
                <a:spcPts val="0"/>
              </a:spcAft>
              <a:buClr>
                <a:schemeClr val="lt1"/>
              </a:buClr>
              <a:buSzPts val="3000"/>
              <a:buFont typeface="Barlow SemiBold"/>
              <a:buNone/>
              <a:defRPr sz="3000">
                <a:solidFill>
                  <a:schemeClr val="lt1"/>
                </a:solidFill>
                <a:latin typeface="Barlow SemiBold"/>
                <a:ea typeface="Barlow SemiBold"/>
                <a:cs typeface="Barlow SemiBold"/>
                <a:sym typeface="Barlow SemiBold"/>
              </a:defRPr>
            </a:lvl9pPr>
          </a:lstStyle>
          <a:p>
            <a:endParaRPr/>
          </a:p>
        </p:txBody>
      </p:sp>
      <p:sp>
        <p:nvSpPr>
          <p:cNvPr id="8" name="Google Shape;8;p1"/>
          <p:cNvSpPr txBox="1">
            <a:spLocks noGrp="1"/>
          </p:cNvSpPr>
          <p:nvPr>
            <p:ph type="body" idx="1"/>
          </p:nvPr>
        </p:nvSpPr>
        <p:spPr>
          <a:xfrm>
            <a:off x="614975" y="1705175"/>
            <a:ext cx="6757800" cy="2826600"/>
          </a:xfrm>
          <a:prstGeom prst="rect">
            <a:avLst/>
          </a:prstGeom>
          <a:noFill/>
          <a:ln>
            <a:noFill/>
          </a:ln>
        </p:spPr>
        <p:txBody>
          <a:bodyPr spcFirstLastPara="1" wrap="square" lIns="0" tIns="0" rIns="0" bIns="0" anchor="t" anchorCtr="0">
            <a:noAutofit/>
          </a:bodyPr>
          <a:lstStyle>
            <a:lvl1pPr marL="457200" lvl="0" indent="-381000" rtl="0">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marL="914400" lvl="1" indent="-381000" rtl="0">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2pPr>
            <a:lvl3pPr marL="1371600" lvl="2" indent="-381000" rtl="0">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3pPr>
            <a:lvl4pPr marL="1828800" lvl="3" indent="-381000" rtl="0">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4pPr>
            <a:lvl5pPr marL="2286000" lvl="4" indent="-381000" rtl="0">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5pPr>
            <a:lvl6pPr marL="2743200" lvl="5" indent="-381000" rtl="0">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6pPr>
            <a:lvl7pPr marL="3200400" lvl="6" indent="-381000" rtl="0">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7pPr>
            <a:lvl8pPr marL="3657600" lvl="7" indent="-381000" rtl="0">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8pPr>
            <a:lvl9pPr marL="4114800" lvl="8" indent="-381000" rtl="0">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7" r:id="rId7"/>
    <p:sldLayoutId id="2147483658"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charlie-napier/"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data.cms.gov/provider-data/dataset/xubh-q36u" TargetMode="External"/><Relationship Id="rId7" Type="http://schemas.openxmlformats.org/officeDocument/2006/relationships/hyperlink" Target="https://data.cms.gov/provider-data/dataset/c7us-v4mf"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hyperlink" Target="https://data.cms.gov/provider-data/dataset/9n3s-kdb3" TargetMode="External"/><Relationship Id="rId5" Type="http://schemas.openxmlformats.org/officeDocument/2006/relationships/hyperlink" Target="https://data.cms.gov/provider-data/dataset/ynj2-r877" TargetMode="External"/><Relationship Id="rId4" Type="http://schemas.openxmlformats.org/officeDocument/2006/relationships/hyperlink" Target="https://data.cms.gov/provider-data/dataset/rrqw-56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5"/>
        <p:cNvGrpSpPr/>
        <p:nvPr/>
      </p:nvGrpSpPr>
      <p:grpSpPr>
        <a:xfrm>
          <a:off x="0" y="0"/>
          <a:ext cx="0" cy="0"/>
          <a:chOff x="0" y="0"/>
          <a:chExt cx="0" cy="0"/>
        </a:xfrm>
      </p:grpSpPr>
      <p:sp>
        <p:nvSpPr>
          <p:cNvPr id="176" name="Google Shape;176;p15"/>
          <p:cNvSpPr txBox="1">
            <a:spLocks noGrp="1"/>
          </p:cNvSpPr>
          <p:nvPr>
            <p:ph type="title"/>
          </p:nvPr>
        </p:nvSpPr>
        <p:spPr>
          <a:xfrm>
            <a:off x="614975" y="899100"/>
            <a:ext cx="3613200" cy="1228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9600"/>
              <a:t>Hello!</a:t>
            </a:r>
            <a:endParaRPr sz="9600"/>
          </a:p>
        </p:txBody>
      </p:sp>
      <p:sp>
        <p:nvSpPr>
          <p:cNvPr id="177" name="Google Shape;177;p15"/>
          <p:cNvSpPr txBox="1">
            <a:spLocks noGrp="1"/>
          </p:cNvSpPr>
          <p:nvPr>
            <p:ph type="body" idx="1"/>
          </p:nvPr>
        </p:nvSpPr>
        <p:spPr>
          <a:xfrm>
            <a:off x="273143" y="2199741"/>
            <a:ext cx="4076665" cy="232953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b="1" dirty="0">
                <a:solidFill>
                  <a:schemeClr val="accent3"/>
                </a:solidFill>
                <a:latin typeface="Barlow"/>
                <a:ea typeface="Barlow"/>
                <a:cs typeface="Barlow"/>
                <a:sym typeface="Barlow"/>
              </a:rPr>
              <a:t>I’m </a:t>
            </a:r>
            <a:r>
              <a:rPr lang="en-US" b="1" dirty="0">
                <a:solidFill>
                  <a:schemeClr val="accent3"/>
                </a:solidFill>
                <a:latin typeface="Barlow"/>
                <a:ea typeface="Barlow"/>
                <a:cs typeface="Barlow"/>
                <a:sym typeface="Barlow"/>
              </a:rPr>
              <a:t>Charlie Napier</a:t>
            </a:r>
            <a:endParaRPr b="1" dirty="0">
              <a:solidFill>
                <a:schemeClr val="accent3"/>
              </a:solidFill>
              <a:latin typeface="Barlow"/>
              <a:ea typeface="Barlow"/>
              <a:cs typeface="Barlow"/>
              <a:sym typeface="Barlow"/>
            </a:endParaRPr>
          </a:p>
          <a:p>
            <a:pPr marL="342900" indent="-342900">
              <a:buClr>
                <a:schemeClr val="dk1"/>
              </a:buClr>
              <a:buSzPts val="1100"/>
            </a:pPr>
            <a:r>
              <a:rPr lang="en-US" sz="1800" dirty="0"/>
              <a:t>I am a financial consulting professional in the health insurance brokerage sector.</a:t>
            </a:r>
            <a:endParaRPr sz="1800" dirty="0"/>
          </a:p>
          <a:p>
            <a:pPr marL="342900" indent="-342900">
              <a:buClr>
                <a:schemeClr val="dk1"/>
              </a:buClr>
              <a:buSzPts val="1100"/>
            </a:pPr>
            <a:r>
              <a:rPr lang="en" sz="1800" dirty="0"/>
              <a:t>You can find me here on </a:t>
            </a:r>
            <a:r>
              <a:rPr lang="en-US" sz="1800" dirty="0">
                <a:hlinkClick r:id="rId3"/>
              </a:rPr>
              <a:t>LinkedIn</a:t>
            </a:r>
            <a:endParaRPr sz="1800" b="1" dirty="0"/>
          </a:p>
        </p:txBody>
      </p:sp>
      <p:sp>
        <p:nvSpPr>
          <p:cNvPr id="178" name="Google Shape;178;p15"/>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a:t>
            </a:fld>
            <a:endParaRPr/>
          </a:p>
        </p:txBody>
      </p:sp>
      <p:pic>
        <p:nvPicPr>
          <p:cNvPr id="3" name="Picture 2">
            <a:extLst>
              <a:ext uri="{FF2B5EF4-FFF2-40B4-BE49-F238E27FC236}">
                <a16:creationId xmlns:a16="http://schemas.microsoft.com/office/drawing/2014/main" id="{AA8107A8-37DC-6D4F-BD01-76831F0C33A0}"/>
              </a:ext>
            </a:extLst>
          </p:cNvPr>
          <p:cNvPicPr>
            <a:picLocks noChangeAspect="1"/>
          </p:cNvPicPr>
          <p:nvPr/>
        </p:nvPicPr>
        <p:blipFill>
          <a:blip r:embed="rId4"/>
          <a:stretch>
            <a:fillRect/>
          </a:stretch>
        </p:blipFill>
        <p:spPr>
          <a:xfrm>
            <a:off x="4896740" y="709293"/>
            <a:ext cx="3281584" cy="3640586"/>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grpSp>
        <p:nvGrpSpPr>
          <p:cNvPr id="154" name="Google Shape;154;p13"/>
          <p:cNvGrpSpPr/>
          <p:nvPr/>
        </p:nvGrpSpPr>
        <p:grpSpPr>
          <a:xfrm>
            <a:off x="8013742" y="4015142"/>
            <a:ext cx="600715" cy="600715"/>
            <a:chOff x="8762414" y="2939573"/>
            <a:chExt cx="457200" cy="457200"/>
          </a:xfrm>
        </p:grpSpPr>
        <p:sp>
          <p:nvSpPr>
            <p:cNvPr id="155" name="Google Shape;155;p13"/>
            <p:cNvSpPr/>
            <p:nvPr/>
          </p:nvSpPr>
          <p:spPr>
            <a:xfrm>
              <a:off x="9010064" y="3034823"/>
              <a:ext cx="209550" cy="66675"/>
            </a:xfrm>
            <a:custGeom>
              <a:avLst/>
              <a:gdLst/>
              <a:ahLst/>
              <a:cxnLst/>
              <a:rect l="l" t="t" r="r" b="b"/>
              <a:pathLst>
                <a:path w="209550" h="66675" extrusionOk="0">
                  <a:moveTo>
                    <a:pt x="200025" y="0"/>
                  </a:moveTo>
                  <a:lnTo>
                    <a:pt x="9525" y="0"/>
                  </a:lnTo>
                  <a:cubicBezTo>
                    <a:pt x="3810" y="0"/>
                    <a:pt x="0" y="3810"/>
                    <a:pt x="0" y="9525"/>
                  </a:cubicBezTo>
                  <a:lnTo>
                    <a:pt x="0" y="57150"/>
                  </a:lnTo>
                  <a:cubicBezTo>
                    <a:pt x="0" y="62865"/>
                    <a:pt x="3810" y="66675"/>
                    <a:pt x="9525" y="66675"/>
                  </a:cubicBezTo>
                  <a:lnTo>
                    <a:pt x="200025" y="66675"/>
                  </a:lnTo>
                  <a:cubicBezTo>
                    <a:pt x="205740" y="66675"/>
                    <a:pt x="209550" y="62865"/>
                    <a:pt x="209550" y="57150"/>
                  </a:cubicBezTo>
                  <a:lnTo>
                    <a:pt x="209550" y="9525"/>
                  </a:lnTo>
                  <a:cubicBezTo>
                    <a:pt x="209550" y="3810"/>
                    <a:pt x="205740" y="0"/>
                    <a:pt x="200025" y="0"/>
                  </a:cubicBezTo>
                  <a:close/>
                </a:path>
              </a:pathLst>
            </a:custGeom>
            <a:solidFill>
              <a:schemeClr val="lt1"/>
            </a:solidFill>
            <a:ln>
              <a:noFill/>
            </a:ln>
            <a:effectLst>
              <a:outerShdw dist="19050" dir="5400000" algn="bl" rotWithShape="0">
                <a:schemeClr val="dk1">
                  <a:alpha val="20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 name="Google Shape;156;p13"/>
            <p:cNvSpPr/>
            <p:nvPr/>
          </p:nvSpPr>
          <p:spPr>
            <a:xfrm>
              <a:off x="9029114" y="3120548"/>
              <a:ext cx="171450" cy="276225"/>
            </a:xfrm>
            <a:custGeom>
              <a:avLst/>
              <a:gdLst/>
              <a:ahLst/>
              <a:cxnLst/>
              <a:rect l="l" t="t" r="r" b="b"/>
              <a:pathLst>
                <a:path w="171450" h="276225" extrusionOk="0">
                  <a:moveTo>
                    <a:pt x="0" y="266700"/>
                  </a:moveTo>
                  <a:cubicBezTo>
                    <a:pt x="0" y="272415"/>
                    <a:pt x="3810" y="276225"/>
                    <a:pt x="9525" y="276225"/>
                  </a:cubicBezTo>
                  <a:lnTo>
                    <a:pt x="161925" y="276225"/>
                  </a:lnTo>
                  <a:cubicBezTo>
                    <a:pt x="167640" y="276225"/>
                    <a:pt x="171450" y="272415"/>
                    <a:pt x="171450" y="266700"/>
                  </a:cubicBezTo>
                  <a:lnTo>
                    <a:pt x="171450" y="0"/>
                  </a:lnTo>
                  <a:lnTo>
                    <a:pt x="0" y="0"/>
                  </a:lnTo>
                  <a:lnTo>
                    <a:pt x="0" y="266700"/>
                  </a:lnTo>
                  <a:close/>
                  <a:moveTo>
                    <a:pt x="28575" y="57150"/>
                  </a:moveTo>
                  <a:cubicBezTo>
                    <a:pt x="28575" y="51435"/>
                    <a:pt x="32385" y="47625"/>
                    <a:pt x="38100" y="47625"/>
                  </a:cubicBezTo>
                  <a:lnTo>
                    <a:pt x="133350" y="47625"/>
                  </a:lnTo>
                  <a:cubicBezTo>
                    <a:pt x="139065" y="47625"/>
                    <a:pt x="142875" y="51435"/>
                    <a:pt x="142875" y="57150"/>
                  </a:cubicBezTo>
                  <a:lnTo>
                    <a:pt x="142875" y="123825"/>
                  </a:lnTo>
                  <a:cubicBezTo>
                    <a:pt x="142875" y="129540"/>
                    <a:pt x="139065" y="133350"/>
                    <a:pt x="133350" y="133350"/>
                  </a:cubicBezTo>
                  <a:lnTo>
                    <a:pt x="38100" y="133350"/>
                  </a:lnTo>
                  <a:cubicBezTo>
                    <a:pt x="32385" y="133350"/>
                    <a:pt x="28575" y="129540"/>
                    <a:pt x="28575" y="123825"/>
                  </a:cubicBezTo>
                  <a:lnTo>
                    <a:pt x="28575" y="57150"/>
                  </a:lnTo>
                  <a:close/>
                  <a:moveTo>
                    <a:pt x="38100" y="161925"/>
                  </a:moveTo>
                  <a:lnTo>
                    <a:pt x="133350" y="161925"/>
                  </a:lnTo>
                  <a:cubicBezTo>
                    <a:pt x="139065" y="161925"/>
                    <a:pt x="142875" y="165735"/>
                    <a:pt x="142875" y="171450"/>
                  </a:cubicBezTo>
                  <a:cubicBezTo>
                    <a:pt x="142875" y="177165"/>
                    <a:pt x="139065" y="180975"/>
                    <a:pt x="133350" y="180975"/>
                  </a:cubicBezTo>
                  <a:lnTo>
                    <a:pt x="38100" y="180975"/>
                  </a:lnTo>
                  <a:cubicBezTo>
                    <a:pt x="32385" y="180975"/>
                    <a:pt x="28575" y="177165"/>
                    <a:pt x="28575" y="171450"/>
                  </a:cubicBezTo>
                  <a:cubicBezTo>
                    <a:pt x="28575" y="165735"/>
                    <a:pt x="32385" y="161925"/>
                    <a:pt x="38100" y="161925"/>
                  </a:cubicBezTo>
                  <a:close/>
                </a:path>
              </a:pathLst>
            </a:custGeom>
            <a:solidFill>
              <a:schemeClr val="lt1"/>
            </a:solidFill>
            <a:ln>
              <a:noFill/>
            </a:ln>
            <a:effectLst>
              <a:outerShdw dist="19050" dir="5400000" algn="bl" rotWithShape="0">
                <a:schemeClr val="dk1">
                  <a:alpha val="20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 name="Google Shape;157;p13"/>
            <p:cNvSpPr/>
            <p:nvPr/>
          </p:nvSpPr>
          <p:spPr>
            <a:xfrm>
              <a:off x="8762414" y="2939573"/>
              <a:ext cx="200025" cy="457200"/>
            </a:xfrm>
            <a:custGeom>
              <a:avLst/>
              <a:gdLst/>
              <a:ahLst/>
              <a:cxnLst/>
              <a:rect l="l" t="t" r="r" b="b"/>
              <a:pathLst>
                <a:path w="200025" h="457200" extrusionOk="0">
                  <a:moveTo>
                    <a:pt x="185738" y="76200"/>
                  </a:moveTo>
                  <a:lnTo>
                    <a:pt x="133350" y="76200"/>
                  </a:lnTo>
                  <a:lnTo>
                    <a:pt x="133350" y="28575"/>
                  </a:lnTo>
                  <a:lnTo>
                    <a:pt x="157163" y="28575"/>
                  </a:lnTo>
                  <a:cubicBezTo>
                    <a:pt x="164783" y="28575"/>
                    <a:pt x="171450" y="21908"/>
                    <a:pt x="171450" y="14288"/>
                  </a:cubicBezTo>
                  <a:cubicBezTo>
                    <a:pt x="171450" y="6668"/>
                    <a:pt x="164783" y="0"/>
                    <a:pt x="157163" y="0"/>
                  </a:cubicBezTo>
                  <a:lnTo>
                    <a:pt x="42863" y="0"/>
                  </a:lnTo>
                  <a:cubicBezTo>
                    <a:pt x="35243" y="0"/>
                    <a:pt x="28575" y="6668"/>
                    <a:pt x="28575" y="14288"/>
                  </a:cubicBezTo>
                  <a:cubicBezTo>
                    <a:pt x="28575" y="21908"/>
                    <a:pt x="35243" y="28575"/>
                    <a:pt x="42863" y="28575"/>
                  </a:cubicBezTo>
                  <a:lnTo>
                    <a:pt x="66675" y="28575"/>
                  </a:lnTo>
                  <a:lnTo>
                    <a:pt x="66675" y="76200"/>
                  </a:lnTo>
                  <a:lnTo>
                    <a:pt x="14288" y="76200"/>
                  </a:lnTo>
                  <a:cubicBezTo>
                    <a:pt x="6668" y="76200"/>
                    <a:pt x="0" y="82868"/>
                    <a:pt x="0" y="90488"/>
                  </a:cubicBezTo>
                  <a:cubicBezTo>
                    <a:pt x="0" y="98108"/>
                    <a:pt x="6668" y="104775"/>
                    <a:pt x="14288" y="104775"/>
                  </a:cubicBezTo>
                  <a:lnTo>
                    <a:pt x="47625" y="104775"/>
                  </a:lnTo>
                  <a:lnTo>
                    <a:pt x="47625" y="323850"/>
                  </a:lnTo>
                  <a:cubicBezTo>
                    <a:pt x="47625" y="334328"/>
                    <a:pt x="56198" y="342900"/>
                    <a:pt x="66675" y="342900"/>
                  </a:cubicBezTo>
                  <a:lnTo>
                    <a:pt x="66675" y="361950"/>
                  </a:lnTo>
                  <a:cubicBezTo>
                    <a:pt x="66675" y="367665"/>
                    <a:pt x="70485" y="371475"/>
                    <a:pt x="76200" y="371475"/>
                  </a:cubicBezTo>
                  <a:lnTo>
                    <a:pt x="85725" y="371475"/>
                  </a:lnTo>
                  <a:lnTo>
                    <a:pt x="85725" y="442913"/>
                  </a:lnTo>
                  <a:cubicBezTo>
                    <a:pt x="85725" y="450533"/>
                    <a:pt x="92393" y="457200"/>
                    <a:pt x="100013" y="457200"/>
                  </a:cubicBezTo>
                  <a:cubicBezTo>
                    <a:pt x="107633" y="457200"/>
                    <a:pt x="114300" y="450533"/>
                    <a:pt x="114300" y="442913"/>
                  </a:cubicBezTo>
                  <a:lnTo>
                    <a:pt x="114300" y="371475"/>
                  </a:lnTo>
                  <a:lnTo>
                    <a:pt x="123825" y="371475"/>
                  </a:lnTo>
                  <a:cubicBezTo>
                    <a:pt x="129540" y="371475"/>
                    <a:pt x="133350" y="367665"/>
                    <a:pt x="133350" y="361950"/>
                  </a:cubicBezTo>
                  <a:lnTo>
                    <a:pt x="133350" y="342900"/>
                  </a:lnTo>
                  <a:cubicBezTo>
                    <a:pt x="143828" y="342900"/>
                    <a:pt x="152400" y="334328"/>
                    <a:pt x="152400" y="323850"/>
                  </a:cubicBezTo>
                  <a:lnTo>
                    <a:pt x="152400" y="104775"/>
                  </a:lnTo>
                  <a:lnTo>
                    <a:pt x="185738" y="104775"/>
                  </a:lnTo>
                  <a:cubicBezTo>
                    <a:pt x="193358" y="104775"/>
                    <a:pt x="200025" y="98108"/>
                    <a:pt x="200025" y="90488"/>
                  </a:cubicBezTo>
                  <a:cubicBezTo>
                    <a:pt x="200025" y="82868"/>
                    <a:pt x="193358" y="76200"/>
                    <a:pt x="185738" y="76200"/>
                  </a:cubicBezTo>
                  <a:close/>
                  <a:moveTo>
                    <a:pt x="123825" y="247650"/>
                  </a:moveTo>
                  <a:lnTo>
                    <a:pt x="76200" y="247650"/>
                  </a:lnTo>
                  <a:lnTo>
                    <a:pt x="76200" y="123825"/>
                  </a:lnTo>
                  <a:lnTo>
                    <a:pt x="123825" y="123825"/>
                  </a:lnTo>
                  <a:lnTo>
                    <a:pt x="123825" y="247650"/>
                  </a:lnTo>
                  <a:close/>
                </a:path>
              </a:pathLst>
            </a:custGeom>
            <a:solidFill>
              <a:schemeClr val="lt1"/>
            </a:solidFill>
            <a:ln>
              <a:noFill/>
            </a:ln>
            <a:effectLst>
              <a:outerShdw dist="19050" dir="5400000" algn="bl" rotWithShape="0">
                <a:schemeClr val="dk1">
                  <a:alpha val="20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58" name="Google Shape;158;p13"/>
          <p:cNvSpPr txBox="1">
            <a:spLocks noGrp="1"/>
          </p:cNvSpPr>
          <p:nvPr>
            <p:ph type="ctrTitle"/>
          </p:nvPr>
        </p:nvSpPr>
        <p:spPr>
          <a:xfrm>
            <a:off x="614975" y="3124850"/>
            <a:ext cx="6058800" cy="1532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Hospital Costs vs. Quality of Care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pSp>
        <p:nvGrpSpPr>
          <p:cNvPr id="125" name="Google Shape;125;p15"/>
          <p:cNvGrpSpPr/>
          <p:nvPr/>
        </p:nvGrpSpPr>
        <p:grpSpPr>
          <a:xfrm>
            <a:off x="866977" y="-259304"/>
            <a:ext cx="3457387" cy="5112005"/>
            <a:chOff x="0" y="-47625"/>
            <a:chExt cx="635000" cy="938895"/>
          </a:xfrm>
        </p:grpSpPr>
        <p:sp>
          <p:nvSpPr>
            <p:cNvPr id="126" name="Google Shape;126;p15"/>
            <p:cNvSpPr/>
            <p:nvPr/>
          </p:nvSpPr>
          <p:spPr>
            <a:xfrm>
              <a:off x="0" y="0"/>
              <a:ext cx="606628" cy="891270"/>
            </a:xfrm>
            <a:custGeom>
              <a:avLst/>
              <a:gdLst/>
              <a:ahLst/>
              <a:cxnLst/>
              <a:rect l="l" t="t" r="r" b="b"/>
              <a:pathLst>
                <a:path w="606628" h="891270" extrusionOk="0">
                  <a:moveTo>
                    <a:pt x="606628" y="0"/>
                  </a:moveTo>
                  <a:lnTo>
                    <a:pt x="606628" y="776970"/>
                  </a:lnTo>
                  <a:lnTo>
                    <a:pt x="303314" y="891270"/>
                  </a:lnTo>
                  <a:lnTo>
                    <a:pt x="0" y="776970"/>
                  </a:lnTo>
                  <a:lnTo>
                    <a:pt x="0" y="0"/>
                  </a:lnTo>
                  <a:lnTo>
                    <a:pt x="606628" y="0"/>
                  </a:lnTo>
                  <a:close/>
                </a:path>
              </a:pathLst>
            </a:custGeom>
            <a:solidFill>
              <a:srgbClr val="014E97"/>
            </a:solidFill>
            <a:ln>
              <a:noFill/>
            </a:ln>
          </p:spPr>
        </p:sp>
        <p:sp>
          <p:nvSpPr>
            <p:cNvPr id="127" name="Google Shape;127;p15"/>
            <p:cNvSpPr txBox="1"/>
            <p:nvPr/>
          </p:nvSpPr>
          <p:spPr>
            <a:xfrm>
              <a:off x="0" y="-47625"/>
              <a:ext cx="635000" cy="746125"/>
            </a:xfrm>
            <a:prstGeom prst="rect">
              <a:avLst/>
            </a:prstGeom>
            <a:noFill/>
            <a:ln>
              <a:noFill/>
            </a:ln>
          </p:spPr>
          <p:txBody>
            <a:bodyPr spcFirstLastPara="1" wrap="square" lIns="25400" tIns="25400" rIns="25400" bIns="25400" anchor="ctr" anchorCtr="0">
              <a:noAutofit/>
            </a:bodyPr>
            <a:lstStyle/>
            <a:p>
              <a:pPr algn="ctr">
                <a:lnSpc>
                  <a:spcPct val="186611"/>
                </a:lnSpc>
              </a:pPr>
              <a:endParaRPr sz="900">
                <a:solidFill>
                  <a:schemeClr val="dk1"/>
                </a:solidFill>
                <a:latin typeface="Calibri"/>
                <a:ea typeface="Calibri"/>
                <a:cs typeface="Calibri"/>
                <a:sym typeface="Calibri"/>
              </a:endParaRPr>
            </a:p>
          </p:txBody>
        </p:sp>
      </p:grpSp>
      <p:sp>
        <p:nvSpPr>
          <p:cNvPr id="131" name="Google Shape;131;p15"/>
          <p:cNvSpPr txBox="1"/>
          <p:nvPr/>
        </p:nvSpPr>
        <p:spPr>
          <a:xfrm>
            <a:off x="6267357" y="729914"/>
            <a:ext cx="2073274" cy="603242"/>
          </a:xfrm>
          <a:prstGeom prst="rect">
            <a:avLst/>
          </a:prstGeom>
          <a:noFill/>
          <a:ln>
            <a:noFill/>
          </a:ln>
        </p:spPr>
        <p:txBody>
          <a:bodyPr spcFirstLastPara="1" wrap="square" lIns="0" tIns="0" rIns="0" bIns="0" anchor="t" anchorCtr="0">
            <a:spAutoFit/>
          </a:bodyPr>
          <a:lstStyle/>
          <a:p>
            <a:pPr algn="ctr">
              <a:lnSpc>
                <a:spcPct val="140016"/>
              </a:lnSpc>
            </a:pPr>
            <a:r>
              <a:rPr lang="en-US" dirty="0"/>
              <a:t>Introduction &amp; Problem Statement</a:t>
            </a:r>
            <a:endParaRPr dirty="0"/>
          </a:p>
        </p:txBody>
      </p:sp>
      <p:sp>
        <p:nvSpPr>
          <p:cNvPr id="134" name="Google Shape;134;p15"/>
          <p:cNvSpPr txBox="1"/>
          <p:nvPr/>
        </p:nvSpPr>
        <p:spPr>
          <a:xfrm>
            <a:off x="937880" y="1674866"/>
            <a:ext cx="3161103" cy="1384995"/>
          </a:xfrm>
          <a:prstGeom prst="rect">
            <a:avLst/>
          </a:prstGeom>
          <a:noFill/>
          <a:ln>
            <a:noFill/>
          </a:ln>
        </p:spPr>
        <p:txBody>
          <a:bodyPr spcFirstLastPara="1" wrap="square" lIns="0" tIns="0" rIns="0" bIns="0" anchor="t" anchorCtr="0">
            <a:spAutoFit/>
          </a:bodyPr>
          <a:lstStyle/>
          <a:p>
            <a:pPr algn="ctr">
              <a:lnSpc>
                <a:spcPct val="120000"/>
              </a:lnSpc>
            </a:pPr>
            <a:r>
              <a:rPr lang="en-US" sz="3750" dirty="0">
                <a:solidFill>
                  <a:srgbClr val="FFFFFF"/>
                </a:solidFill>
                <a:latin typeface="Libre Baskerville"/>
                <a:ea typeface="Libre Baskerville"/>
                <a:cs typeface="Libre Baskerville"/>
                <a:sym typeface="Libre Baskerville"/>
              </a:rPr>
              <a:t>Table of </a:t>
            </a:r>
            <a:endParaRPr sz="700" dirty="0"/>
          </a:p>
          <a:p>
            <a:pPr algn="ctr">
              <a:lnSpc>
                <a:spcPct val="120000"/>
              </a:lnSpc>
            </a:pPr>
            <a:r>
              <a:rPr lang="en-US" sz="3750" dirty="0">
                <a:solidFill>
                  <a:srgbClr val="FFFFFF"/>
                </a:solidFill>
                <a:latin typeface="Libre Baskerville"/>
                <a:ea typeface="Libre Baskerville"/>
                <a:cs typeface="Libre Baskerville"/>
                <a:sym typeface="Libre Baskerville"/>
              </a:rPr>
              <a:t>Contents</a:t>
            </a:r>
            <a:endParaRPr sz="700" dirty="0"/>
          </a:p>
        </p:txBody>
      </p:sp>
      <p:cxnSp>
        <p:nvCxnSpPr>
          <p:cNvPr id="135" name="Google Shape;135;p15"/>
          <p:cNvCxnSpPr/>
          <p:nvPr/>
        </p:nvCxnSpPr>
        <p:spPr>
          <a:xfrm rot="5400000">
            <a:off x="1504469" y="342136"/>
            <a:ext cx="2008876" cy="0"/>
          </a:xfrm>
          <a:prstGeom prst="straightConnector1">
            <a:avLst/>
          </a:prstGeom>
          <a:noFill/>
          <a:ln w="38100" cap="flat" cmpd="sng">
            <a:solidFill>
              <a:srgbClr val="FFFFFF"/>
            </a:solidFill>
            <a:prstDash val="solid"/>
            <a:round/>
            <a:headEnd type="none" w="sm" len="sm"/>
            <a:tailEnd type="none" w="sm" len="sm"/>
          </a:ln>
        </p:spPr>
      </p:cxnSp>
      <p:sp>
        <p:nvSpPr>
          <p:cNvPr id="2" name="Hexagon 1">
            <a:extLst>
              <a:ext uri="{FF2B5EF4-FFF2-40B4-BE49-F238E27FC236}">
                <a16:creationId xmlns:a16="http://schemas.microsoft.com/office/drawing/2014/main" id="{10376250-B55C-6E4E-8B9E-5F5EDADDC0FF}"/>
              </a:ext>
            </a:extLst>
          </p:cNvPr>
          <p:cNvSpPr/>
          <p:nvPr/>
        </p:nvSpPr>
        <p:spPr>
          <a:xfrm>
            <a:off x="4860208" y="673131"/>
            <a:ext cx="819509" cy="710133"/>
          </a:xfrm>
          <a:prstGeom prst="hexagon">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23D6FD4-1B17-4543-8DBE-F5D358F80F66}"/>
              </a:ext>
            </a:extLst>
          </p:cNvPr>
          <p:cNvSpPr txBox="1"/>
          <p:nvPr/>
        </p:nvSpPr>
        <p:spPr>
          <a:xfrm>
            <a:off x="5054301" y="874308"/>
            <a:ext cx="431321" cy="307777"/>
          </a:xfrm>
          <a:prstGeom prst="rect">
            <a:avLst/>
          </a:prstGeom>
          <a:noFill/>
        </p:spPr>
        <p:txBody>
          <a:bodyPr wrap="square" rtlCol="0">
            <a:spAutoFit/>
          </a:bodyPr>
          <a:lstStyle/>
          <a:p>
            <a:r>
              <a:rPr lang="en-US" b="1" dirty="0">
                <a:solidFill>
                  <a:schemeClr val="tx1">
                    <a:lumMod val="75000"/>
                    <a:lumOff val="25000"/>
                  </a:schemeClr>
                </a:solidFill>
              </a:rPr>
              <a:t>01.</a:t>
            </a:r>
          </a:p>
        </p:txBody>
      </p:sp>
      <p:sp>
        <p:nvSpPr>
          <p:cNvPr id="29" name="Google Shape;131;p15">
            <a:extLst>
              <a:ext uri="{FF2B5EF4-FFF2-40B4-BE49-F238E27FC236}">
                <a16:creationId xmlns:a16="http://schemas.microsoft.com/office/drawing/2014/main" id="{945FD766-8831-CE4D-A25F-801FD3EFF8EA}"/>
              </a:ext>
            </a:extLst>
          </p:cNvPr>
          <p:cNvSpPr txBox="1"/>
          <p:nvPr/>
        </p:nvSpPr>
        <p:spPr>
          <a:xfrm>
            <a:off x="6267357" y="1731649"/>
            <a:ext cx="2073274" cy="603242"/>
          </a:xfrm>
          <a:prstGeom prst="rect">
            <a:avLst/>
          </a:prstGeom>
          <a:noFill/>
          <a:ln>
            <a:noFill/>
          </a:ln>
        </p:spPr>
        <p:txBody>
          <a:bodyPr spcFirstLastPara="1" wrap="square" lIns="0" tIns="0" rIns="0" bIns="0" anchor="t" anchorCtr="0">
            <a:spAutoFit/>
          </a:bodyPr>
          <a:lstStyle/>
          <a:p>
            <a:pPr algn="ctr">
              <a:lnSpc>
                <a:spcPct val="140016"/>
              </a:lnSpc>
            </a:pPr>
            <a:r>
              <a:rPr lang="en-US" dirty="0"/>
              <a:t>The Data: Sources &amp; Measurements Used</a:t>
            </a:r>
            <a:endParaRPr dirty="0"/>
          </a:p>
        </p:txBody>
      </p:sp>
      <p:sp>
        <p:nvSpPr>
          <p:cNvPr id="30" name="Hexagon 29">
            <a:extLst>
              <a:ext uri="{FF2B5EF4-FFF2-40B4-BE49-F238E27FC236}">
                <a16:creationId xmlns:a16="http://schemas.microsoft.com/office/drawing/2014/main" id="{3251EB08-E8E4-EB42-B66A-E82D9ABEC0A7}"/>
              </a:ext>
            </a:extLst>
          </p:cNvPr>
          <p:cNvSpPr/>
          <p:nvPr/>
        </p:nvSpPr>
        <p:spPr>
          <a:xfrm>
            <a:off x="4860208" y="1674866"/>
            <a:ext cx="819509" cy="710133"/>
          </a:xfrm>
          <a:prstGeom prst="hexagon">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9E02E2F-875B-F44E-B8D3-583DAEE18736}"/>
              </a:ext>
            </a:extLst>
          </p:cNvPr>
          <p:cNvSpPr txBox="1"/>
          <p:nvPr/>
        </p:nvSpPr>
        <p:spPr>
          <a:xfrm>
            <a:off x="5054301" y="1876043"/>
            <a:ext cx="431321" cy="307777"/>
          </a:xfrm>
          <a:prstGeom prst="rect">
            <a:avLst/>
          </a:prstGeom>
          <a:noFill/>
        </p:spPr>
        <p:txBody>
          <a:bodyPr wrap="square" rtlCol="0">
            <a:spAutoFit/>
          </a:bodyPr>
          <a:lstStyle/>
          <a:p>
            <a:r>
              <a:rPr lang="en-US" b="1" dirty="0">
                <a:solidFill>
                  <a:schemeClr val="tx1">
                    <a:lumMod val="75000"/>
                    <a:lumOff val="25000"/>
                  </a:schemeClr>
                </a:solidFill>
              </a:rPr>
              <a:t>02.</a:t>
            </a:r>
          </a:p>
        </p:txBody>
      </p:sp>
      <p:sp>
        <p:nvSpPr>
          <p:cNvPr id="32" name="Google Shape;131;p15">
            <a:extLst>
              <a:ext uri="{FF2B5EF4-FFF2-40B4-BE49-F238E27FC236}">
                <a16:creationId xmlns:a16="http://schemas.microsoft.com/office/drawing/2014/main" id="{832304EB-1970-FE44-B441-74FCD87D48F8}"/>
              </a:ext>
            </a:extLst>
          </p:cNvPr>
          <p:cNvSpPr txBox="1"/>
          <p:nvPr/>
        </p:nvSpPr>
        <p:spPr>
          <a:xfrm>
            <a:off x="6267357" y="2790479"/>
            <a:ext cx="2073274" cy="603242"/>
          </a:xfrm>
          <a:prstGeom prst="rect">
            <a:avLst/>
          </a:prstGeom>
          <a:noFill/>
          <a:ln>
            <a:noFill/>
          </a:ln>
        </p:spPr>
        <p:txBody>
          <a:bodyPr spcFirstLastPara="1" wrap="square" lIns="0" tIns="0" rIns="0" bIns="0" anchor="t" anchorCtr="0">
            <a:spAutoFit/>
          </a:bodyPr>
          <a:lstStyle/>
          <a:p>
            <a:pPr algn="ctr">
              <a:lnSpc>
                <a:spcPct val="140016"/>
              </a:lnSpc>
            </a:pPr>
            <a:r>
              <a:rPr lang="en-US" dirty="0"/>
              <a:t>Dashboards: Analysis &amp; Insights</a:t>
            </a:r>
            <a:endParaRPr dirty="0"/>
          </a:p>
        </p:txBody>
      </p:sp>
      <p:sp>
        <p:nvSpPr>
          <p:cNvPr id="33" name="Hexagon 32">
            <a:extLst>
              <a:ext uri="{FF2B5EF4-FFF2-40B4-BE49-F238E27FC236}">
                <a16:creationId xmlns:a16="http://schemas.microsoft.com/office/drawing/2014/main" id="{666EDD7E-7733-5C40-86DA-2773FC38124D}"/>
              </a:ext>
            </a:extLst>
          </p:cNvPr>
          <p:cNvSpPr/>
          <p:nvPr/>
        </p:nvSpPr>
        <p:spPr>
          <a:xfrm>
            <a:off x="4860208" y="2676601"/>
            <a:ext cx="819509" cy="710133"/>
          </a:xfrm>
          <a:prstGeom prst="hexagon">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84411AB-07D6-FD43-A987-07B4951E43D5}"/>
              </a:ext>
            </a:extLst>
          </p:cNvPr>
          <p:cNvSpPr txBox="1"/>
          <p:nvPr/>
        </p:nvSpPr>
        <p:spPr>
          <a:xfrm>
            <a:off x="5054301" y="2877778"/>
            <a:ext cx="431321" cy="307777"/>
          </a:xfrm>
          <a:prstGeom prst="rect">
            <a:avLst/>
          </a:prstGeom>
          <a:noFill/>
        </p:spPr>
        <p:txBody>
          <a:bodyPr wrap="square" rtlCol="0">
            <a:spAutoFit/>
          </a:bodyPr>
          <a:lstStyle/>
          <a:p>
            <a:r>
              <a:rPr lang="en-US" b="1" dirty="0">
                <a:solidFill>
                  <a:schemeClr val="tx1">
                    <a:lumMod val="75000"/>
                    <a:lumOff val="25000"/>
                  </a:schemeClr>
                </a:solidFill>
              </a:rPr>
              <a:t>03.</a:t>
            </a:r>
          </a:p>
        </p:txBody>
      </p:sp>
      <p:sp>
        <p:nvSpPr>
          <p:cNvPr id="35" name="Google Shape;131;p15">
            <a:extLst>
              <a:ext uri="{FF2B5EF4-FFF2-40B4-BE49-F238E27FC236}">
                <a16:creationId xmlns:a16="http://schemas.microsoft.com/office/drawing/2014/main" id="{2064AD82-3A37-A84F-B1DF-4EE7E06F82B8}"/>
              </a:ext>
            </a:extLst>
          </p:cNvPr>
          <p:cNvSpPr txBox="1"/>
          <p:nvPr/>
        </p:nvSpPr>
        <p:spPr>
          <a:xfrm>
            <a:off x="6267357" y="3803125"/>
            <a:ext cx="2208823" cy="301621"/>
          </a:xfrm>
          <a:prstGeom prst="rect">
            <a:avLst/>
          </a:prstGeom>
          <a:noFill/>
          <a:ln>
            <a:noFill/>
          </a:ln>
        </p:spPr>
        <p:txBody>
          <a:bodyPr spcFirstLastPara="1" wrap="square" lIns="0" tIns="0" rIns="0" bIns="0" anchor="t" anchorCtr="0">
            <a:spAutoFit/>
          </a:bodyPr>
          <a:lstStyle/>
          <a:p>
            <a:pPr algn="ctr">
              <a:lnSpc>
                <a:spcPct val="140016"/>
              </a:lnSpc>
            </a:pPr>
            <a:r>
              <a:rPr lang="en-US" dirty="0"/>
              <a:t>Conclusions, &amp; Next Steps</a:t>
            </a:r>
            <a:endParaRPr dirty="0"/>
          </a:p>
        </p:txBody>
      </p:sp>
      <p:sp>
        <p:nvSpPr>
          <p:cNvPr id="36" name="Hexagon 35">
            <a:extLst>
              <a:ext uri="{FF2B5EF4-FFF2-40B4-BE49-F238E27FC236}">
                <a16:creationId xmlns:a16="http://schemas.microsoft.com/office/drawing/2014/main" id="{F842D81A-B2AE-F444-8B99-E8A8D5AD1CBA}"/>
              </a:ext>
            </a:extLst>
          </p:cNvPr>
          <p:cNvSpPr/>
          <p:nvPr/>
        </p:nvSpPr>
        <p:spPr>
          <a:xfrm>
            <a:off x="4860208" y="3656343"/>
            <a:ext cx="819509" cy="710133"/>
          </a:xfrm>
          <a:prstGeom prst="hexagon">
            <a:avLst/>
          </a:prstGeom>
          <a:noFill/>
          <a:ln w="571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2243482-08D5-2D49-BE59-AC62378D4192}"/>
              </a:ext>
            </a:extLst>
          </p:cNvPr>
          <p:cNvSpPr txBox="1"/>
          <p:nvPr/>
        </p:nvSpPr>
        <p:spPr>
          <a:xfrm>
            <a:off x="5054301" y="3855196"/>
            <a:ext cx="431321" cy="307777"/>
          </a:xfrm>
          <a:prstGeom prst="rect">
            <a:avLst/>
          </a:prstGeom>
          <a:noFill/>
        </p:spPr>
        <p:txBody>
          <a:bodyPr wrap="square" rtlCol="0">
            <a:spAutoFit/>
          </a:bodyPr>
          <a:lstStyle/>
          <a:p>
            <a:r>
              <a:rPr lang="en-US" b="1" dirty="0">
                <a:solidFill>
                  <a:schemeClr val="tx1">
                    <a:lumMod val="75000"/>
                    <a:lumOff val="25000"/>
                  </a:schemeClr>
                </a:solidFill>
              </a:rPr>
              <a:t>04.</a:t>
            </a:r>
          </a:p>
        </p:txBody>
      </p:sp>
    </p:spTree>
    <p:extLst>
      <p:ext uri="{BB962C8B-B14F-4D97-AF65-F5344CB8AC3E}">
        <p14:creationId xmlns:p14="http://schemas.microsoft.com/office/powerpoint/2010/main" val="114621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type="ctrTitle"/>
          </p:nvPr>
        </p:nvSpPr>
        <p:spPr>
          <a:xfrm>
            <a:off x="649158" y="2385574"/>
            <a:ext cx="4969500" cy="563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Introduction &amp; Problem Statement</a:t>
            </a:r>
            <a:endParaRPr dirty="0"/>
          </a:p>
        </p:txBody>
      </p:sp>
      <p:sp>
        <p:nvSpPr>
          <p:cNvPr id="186" name="Google Shape;186;p16"/>
          <p:cNvSpPr txBox="1"/>
          <p:nvPr/>
        </p:nvSpPr>
        <p:spPr>
          <a:xfrm>
            <a:off x="6589900" y="759950"/>
            <a:ext cx="2554200" cy="256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600" dirty="0">
                <a:solidFill>
                  <a:schemeClr val="lt1"/>
                </a:solidFill>
                <a:latin typeface="Barlow SemiBold"/>
                <a:ea typeface="Barlow SemiBold"/>
                <a:cs typeface="Barlow SemiBold"/>
                <a:sym typeface="Barlow SemiBold"/>
              </a:rPr>
              <a:t>01</a:t>
            </a:r>
            <a:endParaRPr sz="9600" dirty="0">
              <a:solidFill>
                <a:schemeClr val="lt1"/>
              </a:solidFill>
              <a:latin typeface="Barlow SemiBold"/>
              <a:ea typeface="Barlow SemiBold"/>
              <a:cs typeface="Barlow SemiBold"/>
              <a:sym typeface="Barlow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7"/>
          <p:cNvSpPr txBox="1">
            <a:spLocks noGrp="1"/>
          </p:cNvSpPr>
          <p:nvPr>
            <p:ph type="body" idx="1"/>
          </p:nvPr>
        </p:nvSpPr>
        <p:spPr>
          <a:xfrm>
            <a:off x="1105629" y="1039525"/>
            <a:ext cx="4055100" cy="2914800"/>
          </a:xfrm>
          <a:prstGeom prst="rect">
            <a:avLst/>
          </a:prstGeom>
        </p:spPr>
        <p:txBody>
          <a:bodyPr spcFirstLastPara="1" wrap="square" lIns="0" tIns="0" rIns="0" bIns="0" anchor="t" anchorCtr="0">
            <a:noAutofit/>
          </a:bodyPr>
          <a:lstStyle/>
          <a:p>
            <a:pPr marL="38100" lvl="0" indent="0">
              <a:buNone/>
            </a:pPr>
            <a:r>
              <a:rPr lang="en" sz="3600" b="1" dirty="0"/>
              <a:t>Does Spending More for a Medical Procedure Guarantee a Higher Quality of Care? </a:t>
            </a:r>
          </a:p>
        </p:txBody>
      </p:sp>
      <p:sp>
        <p:nvSpPr>
          <p:cNvPr id="192" name="Google Shape;192;p17"/>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5</a:t>
            </a:fld>
            <a:endParaRPr/>
          </a:p>
        </p:txBody>
      </p:sp>
      <p:grpSp>
        <p:nvGrpSpPr>
          <p:cNvPr id="193" name="Google Shape;193;p17"/>
          <p:cNvGrpSpPr/>
          <p:nvPr/>
        </p:nvGrpSpPr>
        <p:grpSpPr>
          <a:xfrm>
            <a:off x="7440879" y="1838644"/>
            <a:ext cx="859079" cy="859079"/>
            <a:chOff x="3277794" y="2969995"/>
            <a:chExt cx="457200" cy="457200"/>
          </a:xfrm>
        </p:grpSpPr>
        <p:sp>
          <p:nvSpPr>
            <p:cNvPr id="194" name="Google Shape;194;p17"/>
            <p:cNvSpPr/>
            <p:nvPr/>
          </p:nvSpPr>
          <p:spPr>
            <a:xfrm>
              <a:off x="3277794" y="2969995"/>
              <a:ext cx="457200" cy="171450"/>
            </a:xfrm>
            <a:custGeom>
              <a:avLst/>
              <a:gdLst/>
              <a:ahLst/>
              <a:cxnLst/>
              <a:rect l="l" t="t" r="r" b="b"/>
              <a:pathLst>
                <a:path w="457200" h="171450" extrusionOk="0">
                  <a:moveTo>
                    <a:pt x="19050" y="104775"/>
                  </a:moveTo>
                  <a:lnTo>
                    <a:pt x="40005" y="104775"/>
                  </a:lnTo>
                  <a:cubicBezTo>
                    <a:pt x="48578" y="142875"/>
                    <a:pt x="82868" y="171450"/>
                    <a:pt x="123825" y="171450"/>
                  </a:cubicBezTo>
                  <a:cubicBezTo>
                    <a:pt x="164783" y="171450"/>
                    <a:pt x="199073" y="142875"/>
                    <a:pt x="207645" y="104775"/>
                  </a:cubicBezTo>
                  <a:lnTo>
                    <a:pt x="250508" y="104775"/>
                  </a:lnTo>
                  <a:cubicBezTo>
                    <a:pt x="259080" y="142875"/>
                    <a:pt x="293370" y="171450"/>
                    <a:pt x="334328" y="171450"/>
                  </a:cubicBezTo>
                  <a:cubicBezTo>
                    <a:pt x="375285" y="171450"/>
                    <a:pt x="409575" y="142875"/>
                    <a:pt x="418148" y="104775"/>
                  </a:cubicBezTo>
                  <a:lnTo>
                    <a:pt x="438150" y="104775"/>
                  </a:lnTo>
                  <a:cubicBezTo>
                    <a:pt x="448628" y="104775"/>
                    <a:pt x="457200" y="96203"/>
                    <a:pt x="457200" y="85725"/>
                  </a:cubicBezTo>
                  <a:cubicBezTo>
                    <a:pt x="457200" y="75248"/>
                    <a:pt x="448628" y="66675"/>
                    <a:pt x="438150" y="66675"/>
                  </a:cubicBezTo>
                  <a:lnTo>
                    <a:pt x="417195" y="66675"/>
                  </a:lnTo>
                  <a:cubicBezTo>
                    <a:pt x="408623" y="28575"/>
                    <a:pt x="374333" y="0"/>
                    <a:pt x="333375" y="0"/>
                  </a:cubicBezTo>
                  <a:cubicBezTo>
                    <a:pt x="292418" y="0"/>
                    <a:pt x="258128" y="28575"/>
                    <a:pt x="249555" y="66675"/>
                  </a:cubicBezTo>
                  <a:lnTo>
                    <a:pt x="206693" y="66675"/>
                  </a:lnTo>
                  <a:cubicBezTo>
                    <a:pt x="198120" y="28575"/>
                    <a:pt x="163830" y="0"/>
                    <a:pt x="122873" y="0"/>
                  </a:cubicBezTo>
                  <a:cubicBezTo>
                    <a:pt x="81915" y="0"/>
                    <a:pt x="48578" y="28575"/>
                    <a:pt x="40005" y="66675"/>
                  </a:cubicBezTo>
                  <a:lnTo>
                    <a:pt x="19050" y="66675"/>
                  </a:lnTo>
                  <a:cubicBezTo>
                    <a:pt x="8573" y="66675"/>
                    <a:pt x="0" y="75248"/>
                    <a:pt x="0" y="85725"/>
                  </a:cubicBezTo>
                  <a:cubicBezTo>
                    <a:pt x="0" y="96203"/>
                    <a:pt x="8573" y="104775"/>
                    <a:pt x="19050" y="104775"/>
                  </a:cubicBezTo>
                  <a:close/>
                  <a:moveTo>
                    <a:pt x="289560" y="66675"/>
                  </a:moveTo>
                  <a:cubicBezTo>
                    <a:pt x="297180" y="49530"/>
                    <a:pt x="314325" y="38100"/>
                    <a:pt x="333375" y="38100"/>
                  </a:cubicBezTo>
                  <a:cubicBezTo>
                    <a:pt x="352425" y="38100"/>
                    <a:pt x="369570" y="49530"/>
                    <a:pt x="377190" y="66675"/>
                  </a:cubicBezTo>
                  <a:cubicBezTo>
                    <a:pt x="379095" y="72390"/>
                    <a:pt x="381000" y="79058"/>
                    <a:pt x="381000" y="85725"/>
                  </a:cubicBezTo>
                  <a:cubicBezTo>
                    <a:pt x="381000" y="92393"/>
                    <a:pt x="379095" y="99060"/>
                    <a:pt x="377190" y="104775"/>
                  </a:cubicBezTo>
                  <a:cubicBezTo>
                    <a:pt x="369570" y="121920"/>
                    <a:pt x="353378" y="133350"/>
                    <a:pt x="333375" y="133350"/>
                  </a:cubicBezTo>
                  <a:cubicBezTo>
                    <a:pt x="313373" y="133350"/>
                    <a:pt x="297180" y="121920"/>
                    <a:pt x="289560" y="104775"/>
                  </a:cubicBezTo>
                  <a:cubicBezTo>
                    <a:pt x="287655" y="99060"/>
                    <a:pt x="285750" y="92393"/>
                    <a:pt x="285750" y="85725"/>
                  </a:cubicBezTo>
                  <a:cubicBezTo>
                    <a:pt x="285750" y="79058"/>
                    <a:pt x="287655" y="72390"/>
                    <a:pt x="289560" y="66675"/>
                  </a:cubicBezTo>
                  <a:close/>
                  <a:moveTo>
                    <a:pt x="80010" y="66675"/>
                  </a:moveTo>
                  <a:cubicBezTo>
                    <a:pt x="87630" y="49530"/>
                    <a:pt x="104775" y="38100"/>
                    <a:pt x="123825" y="38100"/>
                  </a:cubicBezTo>
                  <a:cubicBezTo>
                    <a:pt x="142875" y="38100"/>
                    <a:pt x="160020" y="49530"/>
                    <a:pt x="167640" y="66675"/>
                  </a:cubicBezTo>
                  <a:cubicBezTo>
                    <a:pt x="169545" y="72390"/>
                    <a:pt x="171450" y="79058"/>
                    <a:pt x="171450" y="85725"/>
                  </a:cubicBezTo>
                  <a:cubicBezTo>
                    <a:pt x="171450" y="92393"/>
                    <a:pt x="169545" y="99060"/>
                    <a:pt x="167640" y="104775"/>
                  </a:cubicBezTo>
                  <a:cubicBezTo>
                    <a:pt x="160020" y="121920"/>
                    <a:pt x="143828" y="133350"/>
                    <a:pt x="123825" y="133350"/>
                  </a:cubicBezTo>
                  <a:cubicBezTo>
                    <a:pt x="103823" y="133350"/>
                    <a:pt x="87630" y="121920"/>
                    <a:pt x="80010" y="104775"/>
                  </a:cubicBezTo>
                  <a:cubicBezTo>
                    <a:pt x="78105" y="99060"/>
                    <a:pt x="76200" y="92393"/>
                    <a:pt x="76200" y="85725"/>
                  </a:cubicBezTo>
                  <a:cubicBezTo>
                    <a:pt x="76200" y="79058"/>
                    <a:pt x="78105" y="72390"/>
                    <a:pt x="80010" y="66675"/>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17"/>
            <p:cNvSpPr/>
            <p:nvPr/>
          </p:nvSpPr>
          <p:spPr>
            <a:xfrm>
              <a:off x="3430194" y="3189070"/>
              <a:ext cx="304800" cy="238125"/>
            </a:xfrm>
            <a:custGeom>
              <a:avLst/>
              <a:gdLst/>
              <a:ahLst/>
              <a:cxnLst/>
              <a:rect l="l" t="t" r="r" b="b"/>
              <a:pathLst>
                <a:path w="304800" h="238125" extrusionOk="0">
                  <a:moveTo>
                    <a:pt x="295275" y="0"/>
                  </a:moveTo>
                  <a:lnTo>
                    <a:pt x="9525" y="0"/>
                  </a:lnTo>
                  <a:cubicBezTo>
                    <a:pt x="4763" y="0"/>
                    <a:pt x="0" y="4763"/>
                    <a:pt x="0" y="9525"/>
                  </a:cubicBezTo>
                  <a:lnTo>
                    <a:pt x="0" y="47625"/>
                  </a:lnTo>
                  <a:lnTo>
                    <a:pt x="142875" y="47625"/>
                  </a:lnTo>
                  <a:cubicBezTo>
                    <a:pt x="159068" y="47625"/>
                    <a:pt x="171450" y="60007"/>
                    <a:pt x="171450" y="76200"/>
                  </a:cubicBezTo>
                  <a:lnTo>
                    <a:pt x="171450" y="238125"/>
                  </a:lnTo>
                  <a:lnTo>
                    <a:pt x="304800" y="238125"/>
                  </a:lnTo>
                  <a:lnTo>
                    <a:pt x="304800" y="9525"/>
                  </a:lnTo>
                  <a:cubicBezTo>
                    <a:pt x="304800" y="4763"/>
                    <a:pt x="300038" y="0"/>
                    <a:pt x="295275" y="0"/>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17"/>
            <p:cNvSpPr/>
            <p:nvPr/>
          </p:nvSpPr>
          <p:spPr>
            <a:xfrm>
              <a:off x="3277794" y="3255745"/>
              <a:ext cx="304800" cy="171450"/>
            </a:xfrm>
            <a:custGeom>
              <a:avLst/>
              <a:gdLst/>
              <a:ahLst/>
              <a:cxnLst/>
              <a:rect l="l" t="t" r="r" b="b"/>
              <a:pathLst>
                <a:path w="304800" h="171450" extrusionOk="0">
                  <a:moveTo>
                    <a:pt x="285750" y="0"/>
                  </a:moveTo>
                  <a:lnTo>
                    <a:pt x="19050" y="0"/>
                  </a:lnTo>
                  <a:cubicBezTo>
                    <a:pt x="8573" y="0"/>
                    <a:pt x="0" y="8572"/>
                    <a:pt x="0" y="19050"/>
                  </a:cubicBezTo>
                  <a:lnTo>
                    <a:pt x="0" y="170498"/>
                  </a:lnTo>
                  <a:cubicBezTo>
                    <a:pt x="0" y="170498"/>
                    <a:pt x="0" y="170498"/>
                    <a:pt x="953" y="171450"/>
                  </a:cubicBezTo>
                  <a:lnTo>
                    <a:pt x="304800" y="171450"/>
                  </a:lnTo>
                  <a:lnTo>
                    <a:pt x="304800" y="171450"/>
                  </a:lnTo>
                  <a:lnTo>
                    <a:pt x="304800" y="19050"/>
                  </a:lnTo>
                  <a:cubicBezTo>
                    <a:pt x="304800" y="8572"/>
                    <a:pt x="296228" y="0"/>
                    <a:pt x="285750" y="0"/>
                  </a:cubicBezTo>
                  <a:close/>
                  <a:moveTo>
                    <a:pt x="242888" y="142875"/>
                  </a:moveTo>
                  <a:lnTo>
                    <a:pt x="61913" y="142875"/>
                  </a:lnTo>
                  <a:cubicBezTo>
                    <a:pt x="54293" y="142875"/>
                    <a:pt x="47625" y="136208"/>
                    <a:pt x="47625" y="128588"/>
                  </a:cubicBezTo>
                  <a:cubicBezTo>
                    <a:pt x="47625" y="120968"/>
                    <a:pt x="54293" y="114300"/>
                    <a:pt x="61913" y="114300"/>
                  </a:cubicBezTo>
                  <a:lnTo>
                    <a:pt x="242888" y="114300"/>
                  </a:lnTo>
                  <a:cubicBezTo>
                    <a:pt x="250508" y="114300"/>
                    <a:pt x="257175" y="120968"/>
                    <a:pt x="257175" y="128588"/>
                  </a:cubicBezTo>
                  <a:cubicBezTo>
                    <a:pt x="257175" y="136208"/>
                    <a:pt x="250508" y="142875"/>
                    <a:pt x="242888" y="142875"/>
                  </a:cubicBezTo>
                  <a:close/>
                  <a:moveTo>
                    <a:pt x="242888" y="85725"/>
                  </a:moveTo>
                  <a:lnTo>
                    <a:pt x="61913" y="85725"/>
                  </a:lnTo>
                  <a:cubicBezTo>
                    <a:pt x="54293" y="85725"/>
                    <a:pt x="47625" y="79057"/>
                    <a:pt x="47625" y="71438"/>
                  </a:cubicBezTo>
                  <a:cubicBezTo>
                    <a:pt x="47625" y="63818"/>
                    <a:pt x="54293" y="57150"/>
                    <a:pt x="61913" y="57150"/>
                  </a:cubicBezTo>
                  <a:lnTo>
                    <a:pt x="242888" y="57150"/>
                  </a:lnTo>
                  <a:cubicBezTo>
                    <a:pt x="250508" y="57150"/>
                    <a:pt x="257175" y="63818"/>
                    <a:pt x="257175" y="71438"/>
                  </a:cubicBezTo>
                  <a:cubicBezTo>
                    <a:pt x="257175" y="79057"/>
                    <a:pt x="250508" y="85725"/>
                    <a:pt x="242888" y="85725"/>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The Project</a:t>
            </a:r>
            <a:endParaRPr dirty="0"/>
          </a:p>
        </p:txBody>
      </p:sp>
      <p:sp>
        <p:nvSpPr>
          <p:cNvPr id="202" name="Google Shape;202;p18"/>
          <p:cNvSpPr txBox="1">
            <a:spLocks noGrp="1"/>
          </p:cNvSpPr>
          <p:nvPr>
            <p:ph type="body" idx="1"/>
          </p:nvPr>
        </p:nvSpPr>
        <p:spPr>
          <a:xfrm>
            <a:off x="614975" y="1474439"/>
            <a:ext cx="6757800" cy="2826600"/>
          </a:xfrm>
          <a:prstGeom prst="rect">
            <a:avLst/>
          </a:prstGeom>
        </p:spPr>
        <p:txBody>
          <a:bodyPr spcFirstLastPara="1" wrap="square" lIns="0" tIns="0" rIns="0" bIns="0" anchor="t" anchorCtr="0">
            <a:noAutofit/>
          </a:bodyPr>
          <a:lstStyle/>
          <a:p>
            <a:pPr lvl="0"/>
            <a:r>
              <a:rPr lang="en" dirty="0"/>
              <a:t>For most things in our economy, higher quality = higher cost.  Is the same true for healthcare?</a:t>
            </a:r>
          </a:p>
          <a:p>
            <a:pPr marL="76200" lvl="0" indent="0">
              <a:buNone/>
            </a:pPr>
            <a:endParaRPr lang="en" dirty="0"/>
          </a:p>
          <a:p>
            <a:pPr lvl="0"/>
            <a:r>
              <a:rPr lang="en" dirty="0"/>
              <a:t>How does one choose a health provider or facility for regular care?</a:t>
            </a:r>
          </a:p>
          <a:p>
            <a:pPr marL="76200" lvl="0" indent="0">
              <a:buNone/>
            </a:pPr>
            <a:endParaRPr lang="en" dirty="0"/>
          </a:p>
          <a:p>
            <a:pPr lvl="0"/>
            <a:r>
              <a:rPr lang="en" dirty="0"/>
              <a:t>Can we do better to steer customers to higher quality providers?</a:t>
            </a:r>
          </a:p>
          <a:p>
            <a:pPr marL="76200" lvl="0" indent="0">
              <a:buNone/>
            </a:pPr>
            <a:endParaRPr dirty="0"/>
          </a:p>
        </p:txBody>
      </p:sp>
      <p:sp>
        <p:nvSpPr>
          <p:cNvPr id="203" name="Google Shape;203;p18"/>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6</a:t>
            </a:fld>
            <a:endParaRPr/>
          </a:p>
        </p:txBody>
      </p:sp>
      <p:grpSp>
        <p:nvGrpSpPr>
          <p:cNvPr id="204" name="Google Shape;204;p18"/>
          <p:cNvGrpSpPr/>
          <p:nvPr/>
        </p:nvGrpSpPr>
        <p:grpSpPr>
          <a:xfrm>
            <a:off x="8436324" y="288377"/>
            <a:ext cx="361474" cy="477145"/>
            <a:chOff x="4276825" y="487236"/>
            <a:chExt cx="317500" cy="419100"/>
          </a:xfrm>
        </p:grpSpPr>
        <p:sp>
          <p:nvSpPr>
            <p:cNvPr id="205" name="Google Shape;205;p18"/>
            <p:cNvSpPr/>
            <p:nvPr/>
          </p:nvSpPr>
          <p:spPr>
            <a:xfrm>
              <a:off x="4276825" y="706311"/>
              <a:ext cx="317500" cy="200025"/>
            </a:xfrm>
            <a:custGeom>
              <a:avLst/>
              <a:gdLst/>
              <a:ahLst/>
              <a:cxnLst/>
              <a:rect l="l" t="t" r="r" b="b"/>
              <a:pathLst>
                <a:path w="317500" h="200025" extrusionOk="0">
                  <a:moveTo>
                    <a:pt x="233456" y="11968"/>
                  </a:moveTo>
                  <a:lnTo>
                    <a:pt x="233456" y="77950"/>
                  </a:lnTo>
                  <a:cubicBezTo>
                    <a:pt x="248043" y="83210"/>
                    <a:pt x="255687" y="99537"/>
                    <a:pt x="250530" y="114415"/>
                  </a:cubicBezTo>
                  <a:cubicBezTo>
                    <a:pt x="245372" y="129294"/>
                    <a:pt x="229367" y="137092"/>
                    <a:pt x="214779" y="131832"/>
                  </a:cubicBezTo>
                  <a:cubicBezTo>
                    <a:pt x="200192" y="126571"/>
                    <a:pt x="192548" y="110244"/>
                    <a:pt x="197705" y="95365"/>
                  </a:cubicBezTo>
                  <a:cubicBezTo>
                    <a:pt x="200526" y="87228"/>
                    <a:pt x="206802" y="80827"/>
                    <a:pt x="214779" y="77950"/>
                  </a:cubicBezTo>
                  <a:lnTo>
                    <a:pt x="214779" y="5296"/>
                  </a:lnTo>
                  <a:cubicBezTo>
                    <a:pt x="202620" y="1818"/>
                    <a:pt x="190055" y="37"/>
                    <a:pt x="177426" y="0"/>
                  </a:cubicBezTo>
                  <a:lnTo>
                    <a:pt x="140074" y="0"/>
                  </a:lnTo>
                  <a:cubicBezTo>
                    <a:pt x="127445" y="37"/>
                    <a:pt x="114880" y="1818"/>
                    <a:pt x="102721" y="5296"/>
                  </a:cubicBezTo>
                  <a:lnTo>
                    <a:pt x="102721" y="76200"/>
                  </a:lnTo>
                  <a:lnTo>
                    <a:pt x="112075" y="76200"/>
                  </a:lnTo>
                  <a:cubicBezTo>
                    <a:pt x="132695" y="76200"/>
                    <a:pt x="149412" y="93251"/>
                    <a:pt x="149412" y="114283"/>
                  </a:cubicBezTo>
                  <a:cubicBezTo>
                    <a:pt x="149412" y="114284"/>
                    <a:pt x="149412" y="114284"/>
                    <a:pt x="149412" y="114284"/>
                  </a:cubicBezTo>
                  <a:lnTo>
                    <a:pt x="149412" y="171450"/>
                  </a:lnTo>
                  <a:cubicBezTo>
                    <a:pt x="149412" y="176711"/>
                    <a:pt x="145231" y="180975"/>
                    <a:pt x="140074" y="180975"/>
                  </a:cubicBezTo>
                  <a:lnTo>
                    <a:pt x="121397" y="180975"/>
                  </a:lnTo>
                  <a:cubicBezTo>
                    <a:pt x="116240" y="180975"/>
                    <a:pt x="112059" y="176711"/>
                    <a:pt x="112059" y="171450"/>
                  </a:cubicBezTo>
                  <a:cubicBezTo>
                    <a:pt x="112059" y="166189"/>
                    <a:pt x="116240" y="161925"/>
                    <a:pt x="121397" y="161925"/>
                  </a:cubicBezTo>
                  <a:lnTo>
                    <a:pt x="130797" y="161925"/>
                  </a:lnTo>
                  <a:lnTo>
                    <a:pt x="130797" y="114300"/>
                  </a:lnTo>
                  <a:cubicBezTo>
                    <a:pt x="130798" y="103780"/>
                    <a:pt x="122437" y="95251"/>
                    <a:pt x="112123" y="95250"/>
                  </a:cubicBezTo>
                  <a:cubicBezTo>
                    <a:pt x="112122" y="95250"/>
                    <a:pt x="112121" y="95250"/>
                    <a:pt x="112120" y="95250"/>
                  </a:cubicBezTo>
                  <a:lnTo>
                    <a:pt x="74690" y="95250"/>
                  </a:lnTo>
                  <a:cubicBezTo>
                    <a:pt x="64362" y="95280"/>
                    <a:pt x="55997" y="103813"/>
                    <a:pt x="55968" y="114348"/>
                  </a:cubicBezTo>
                  <a:lnTo>
                    <a:pt x="55968" y="161925"/>
                  </a:lnTo>
                  <a:lnTo>
                    <a:pt x="65368" y="161925"/>
                  </a:lnTo>
                  <a:cubicBezTo>
                    <a:pt x="70525" y="161925"/>
                    <a:pt x="74706" y="166189"/>
                    <a:pt x="74706" y="171450"/>
                  </a:cubicBezTo>
                  <a:cubicBezTo>
                    <a:pt x="74706" y="176711"/>
                    <a:pt x="70525" y="180975"/>
                    <a:pt x="65368" y="180975"/>
                  </a:cubicBezTo>
                  <a:lnTo>
                    <a:pt x="46691" y="180975"/>
                  </a:lnTo>
                  <a:cubicBezTo>
                    <a:pt x="41534" y="180975"/>
                    <a:pt x="37353" y="176711"/>
                    <a:pt x="37353" y="171450"/>
                  </a:cubicBezTo>
                  <a:lnTo>
                    <a:pt x="37353" y="114300"/>
                  </a:lnTo>
                  <a:cubicBezTo>
                    <a:pt x="37353" y="93258"/>
                    <a:pt x="54075" y="76200"/>
                    <a:pt x="74704" y="76200"/>
                  </a:cubicBezTo>
                  <a:cubicBezTo>
                    <a:pt x="74705" y="76200"/>
                    <a:pt x="74705" y="76200"/>
                    <a:pt x="74706" y="76200"/>
                  </a:cubicBezTo>
                  <a:lnTo>
                    <a:pt x="84044" y="76200"/>
                  </a:lnTo>
                  <a:lnTo>
                    <a:pt x="84044" y="11968"/>
                  </a:lnTo>
                  <a:cubicBezTo>
                    <a:pt x="33006" y="34681"/>
                    <a:pt x="9" y="86077"/>
                    <a:pt x="0" y="142875"/>
                  </a:cubicBezTo>
                  <a:lnTo>
                    <a:pt x="0" y="200025"/>
                  </a:lnTo>
                  <a:lnTo>
                    <a:pt x="317500" y="200025"/>
                  </a:lnTo>
                  <a:lnTo>
                    <a:pt x="317500" y="142875"/>
                  </a:lnTo>
                  <a:cubicBezTo>
                    <a:pt x="317491" y="86077"/>
                    <a:pt x="284493" y="34681"/>
                    <a:pt x="233456" y="11968"/>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8"/>
            <p:cNvSpPr/>
            <p:nvPr/>
          </p:nvSpPr>
          <p:spPr>
            <a:xfrm>
              <a:off x="4342192" y="487236"/>
              <a:ext cx="186764" cy="190500"/>
            </a:xfrm>
            <a:custGeom>
              <a:avLst/>
              <a:gdLst/>
              <a:ahLst/>
              <a:cxnLst/>
              <a:rect l="l" t="t" r="r" b="b"/>
              <a:pathLst>
                <a:path w="186764" h="190500" extrusionOk="0">
                  <a:moveTo>
                    <a:pt x="186765" y="95250"/>
                  </a:moveTo>
                  <a:cubicBezTo>
                    <a:pt x="186765" y="147855"/>
                    <a:pt x="144956" y="190500"/>
                    <a:pt x="93382" y="190500"/>
                  </a:cubicBezTo>
                  <a:cubicBezTo>
                    <a:pt x="41809" y="190500"/>
                    <a:pt x="0" y="147855"/>
                    <a:pt x="0" y="95250"/>
                  </a:cubicBezTo>
                  <a:cubicBezTo>
                    <a:pt x="0" y="42645"/>
                    <a:pt x="41809" y="0"/>
                    <a:pt x="93382" y="0"/>
                  </a:cubicBezTo>
                  <a:cubicBezTo>
                    <a:pt x="144956" y="0"/>
                    <a:pt x="186765" y="42645"/>
                    <a:pt x="186765" y="95250"/>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type="ctrTitle"/>
          </p:nvPr>
        </p:nvSpPr>
        <p:spPr>
          <a:xfrm>
            <a:off x="649158" y="1701209"/>
            <a:ext cx="4954200" cy="1497384"/>
          </a:xfrm>
          <a:prstGeom prst="rect">
            <a:avLst/>
          </a:prstGeom>
        </p:spPr>
        <p:txBody>
          <a:bodyPr spcFirstLastPara="1" wrap="square" lIns="0" tIns="0" rIns="0" bIns="0" anchor="b" anchorCtr="0">
            <a:noAutofit/>
          </a:bodyPr>
          <a:lstStyle/>
          <a:p>
            <a:pPr algn="ctr">
              <a:lnSpc>
                <a:spcPct val="140016"/>
              </a:lnSpc>
            </a:pPr>
            <a:r>
              <a:rPr lang="en-US" dirty="0"/>
              <a:t>The Data: Sources &amp; Measurements Used</a:t>
            </a:r>
          </a:p>
        </p:txBody>
      </p:sp>
      <p:sp>
        <p:nvSpPr>
          <p:cNvPr id="186" name="Google Shape;186;p16"/>
          <p:cNvSpPr txBox="1"/>
          <p:nvPr/>
        </p:nvSpPr>
        <p:spPr>
          <a:xfrm>
            <a:off x="6589900" y="759950"/>
            <a:ext cx="2554200" cy="256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600" dirty="0">
                <a:solidFill>
                  <a:schemeClr val="lt1"/>
                </a:solidFill>
                <a:latin typeface="Barlow SemiBold"/>
                <a:ea typeface="Barlow SemiBold"/>
                <a:cs typeface="Barlow SemiBold"/>
                <a:sym typeface="Barlow SemiBold"/>
              </a:rPr>
              <a:t>02</a:t>
            </a:r>
            <a:endParaRPr sz="9600" dirty="0">
              <a:solidFill>
                <a:schemeClr val="lt1"/>
              </a:solidFill>
              <a:latin typeface="Barlow SemiBold"/>
              <a:ea typeface="Barlow SemiBold"/>
              <a:cs typeface="Barlow SemiBold"/>
              <a:sym typeface="Barlow SemiBold"/>
            </a:endParaRPr>
          </a:p>
        </p:txBody>
      </p:sp>
    </p:spTree>
    <p:extLst>
      <p:ext uri="{BB962C8B-B14F-4D97-AF65-F5344CB8AC3E}">
        <p14:creationId xmlns:p14="http://schemas.microsoft.com/office/powerpoint/2010/main" val="4214152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Dataset</a:t>
            </a:r>
            <a:endParaRPr dirty="0"/>
          </a:p>
        </p:txBody>
      </p:sp>
      <p:sp>
        <p:nvSpPr>
          <p:cNvPr id="202" name="Google Shape;202;p18"/>
          <p:cNvSpPr txBox="1">
            <a:spLocks noGrp="1"/>
          </p:cNvSpPr>
          <p:nvPr>
            <p:ph type="body" idx="1"/>
          </p:nvPr>
        </p:nvSpPr>
        <p:spPr>
          <a:xfrm>
            <a:off x="614975" y="1310850"/>
            <a:ext cx="6757800" cy="3669061"/>
          </a:xfrm>
          <a:prstGeom prst="rect">
            <a:avLst/>
          </a:prstGeom>
        </p:spPr>
        <p:txBody>
          <a:bodyPr spcFirstLastPara="1" wrap="square" lIns="0" tIns="0" rIns="0" bIns="0" anchor="t" anchorCtr="0">
            <a:noAutofit/>
          </a:bodyPr>
          <a:lstStyle/>
          <a:p>
            <a:pPr lvl="0"/>
            <a:r>
              <a:rPr lang="en" dirty="0"/>
              <a:t>Multiple datasets from CMS (Centers for Medicare &amp; Medicaid Services) were utilized.</a:t>
            </a:r>
          </a:p>
          <a:p>
            <a:pPr marL="76200" lvl="0" indent="0">
              <a:buNone/>
            </a:pPr>
            <a:endParaRPr lang="en" dirty="0"/>
          </a:p>
          <a:p>
            <a:pPr lvl="0"/>
            <a:r>
              <a:rPr lang="en" dirty="0"/>
              <a:t>CMS is a public resource with many different datasets that contain cost and quality outcome metrics for various hospitals across the US.</a:t>
            </a:r>
          </a:p>
          <a:p>
            <a:pPr marL="76200" lvl="0" indent="0">
              <a:buNone/>
            </a:pPr>
            <a:endParaRPr lang="en" dirty="0"/>
          </a:p>
          <a:p>
            <a:r>
              <a:rPr lang="en" dirty="0"/>
              <a:t>This analysis will utilize data at an </a:t>
            </a:r>
            <a:r>
              <a:rPr lang="en" b="1" dirty="0">
                <a:solidFill>
                  <a:srgbClr val="0070C0"/>
                </a:solidFill>
              </a:rPr>
              <a:t>inpatient hospital level</a:t>
            </a:r>
            <a:r>
              <a:rPr lang="en" dirty="0"/>
              <a:t>.</a:t>
            </a:r>
            <a:endParaRPr lang="en" b="1" dirty="0"/>
          </a:p>
          <a:p>
            <a:pPr lvl="0"/>
            <a:endParaRPr lang="en" dirty="0"/>
          </a:p>
          <a:p>
            <a:pPr marL="76200" lvl="0" indent="0">
              <a:buNone/>
            </a:pPr>
            <a:endParaRPr dirty="0"/>
          </a:p>
        </p:txBody>
      </p:sp>
      <p:sp>
        <p:nvSpPr>
          <p:cNvPr id="203" name="Google Shape;203;p18"/>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8</a:t>
            </a:fld>
            <a:endParaRPr/>
          </a:p>
        </p:txBody>
      </p:sp>
      <p:grpSp>
        <p:nvGrpSpPr>
          <p:cNvPr id="204" name="Google Shape;204;p18"/>
          <p:cNvGrpSpPr/>
          <p:nvPr/>
        </p:nvGrpSpPr>
        <p:grpSpPr>
          <a:xfrm>
            <a:off x="8436324" y="288377"/>
            <a:ext cx="361474" cy="477145"/>
            <a:chOff x="4276825" y="487236"/>
            <a:chExt cx="317500" cy="419100"/>
          </a:xfrm>
        </p:grpSpPr>
        <p:sp>
          <p:nvSpPr>
            <p:cNvPr id="205" name="Google Shape;205;p18"/>
            <p:cNvSpPr/>
            <p:nvPr/>
          </p:nvSpPr>
          <p:spPr>
            <a:xfrm>
              <a:off x="4276825" y="706311"/>
              <a:ext cx="317500" cy="200025"/>
            </a:xfrm>
            <a:custGeom>
              <a:avLst/>
              <a:gdLst/>
              <a:ahLst/>
              <a:cxnLst/>
              <a:rect l="l" t="t" r="r" b="b"/>
              <a:pathLst>
                <a:path w="317500" h="200025" extrusionOk="0">
                  <a:moveTo>
                    <a:pt x="233456" y="11968"/>
                  </a:moveTo>
                  <a:lnTo>
                    <a:pt x="233456" y="77950"/>
                  </a:lnTo>
                  <a:cubicBezTo>
                    <a:pt x="248043" y="83210"/>
                    <a:pt x="255687" y="99537"/>
                    <a:pt x="250530" y="114415"/>
                  </a:cubicBezTo>
                  <a:cubicBezTo>
                    <a:pt x="245372" y="129294"/>
                    <a:pt x="229367" y="137092"/>
                    <a:pt x="214779" y="131832"/>
                  </a:cubicBezTo>
                  <a:cubicBezTo>
                    <a:pt x="200192" y="126571"/>
                    <a:pt x="192548" y="110244"/>
                    <a:pt x="197705" y="95365"/>
                  </a:cubicBezTo>
                  <a:cubicBezTo>
                    <a:pt x="200526" y="87228"/>
                    <a:pt x="206802" y="80827"/>
                    <a:pt x="214779" y="77950"/>
                  </a:cubicBezTo>
                  <a:lnTo>
                    <a:pt x="214779" y="5296"/>
                  </a:lnTo>
                  <a:cubicBezTo>
                    <a:pt x="202620" y="1818"/>
                    <a:pt x="190055" y="37"/>
                    <a:pt x="177426" y="0"/>
                  </a:cubicBezTo>
                  <a:lnTo>
                    <a:pt x="140074" y="0"/>
                  </a:lnTo>
                  <a:cubicBezTo>
                    <a:pt x="127445" y="37"/>
                    <a:pt x="114880" y="1818"/>
                    <a:pt x="102721" y="5296"/>
                  </a:cubicBezTo>
                  <a:lnTo>
                    <a:pt x="102721" y="76200"/>
                  </a:lnTo>
                  <a:lnTo>
                    <a:pt x="112075" y="76200"/>
                  </a:lnTo>
                  <a:cubicBezTo>
                    <a:pt x="132695" y="76200"/>
                    <a:pt x="149412" y="93251"/>
                    <a:pt x="149412" y="114283"/>
                  </a:cubicBezTo>
                  <a:cubicBezTo>
                    <a:pt x="149412" y="114284"/>
                    <a:pt x="149412" y="114284"/>
                    <a:pt x="149412" y="114284"/>
                  </a:cubicBezTo>
                  <a:lnTo>
                    <a:pt x="149412" y="171450"/>
                  </a:lnTo>
                  <a:cubicBezTo>
                    <a:pt x="149412" y="176711"/>
                    <a:pt x="145231" y="180975"/>
                    <a:pt x="140074" y="180975"/>
                  </a:cubicBezTo>
                  <a:lnTo>
                    <a:pt x="121397" y="180975"/>
                  </a:lnTo>
                  <a:cubicBezTo>
                    <a:pt x="116240" y="180975"/>
                    <a:pt x="112059" y="176711"/>
                    <a:pt x="112059" y="171450"/>
                  </a:cubicBezTo>
                  <a:cubicBezTo>
                    <a:pt x="112059" y="166189"/>
                    <a:pt x="116240" y="161925"/>
                    <a:pt x="121397" y="161925"/>
                  </a:cubicBezTo>
                  <a:lnTo>
                    <a:pt x="130797" y="161925"/>
                  </a:lnTo>
                  <a:lnTo>
                    <a:pt x="130797" y="114300"/>
                  </a:lnTo>
                  <a:cubicBezTo>
                    <a:pt x="130798" y="103780"/>
                    <a:pt x="122437" y="95251"/>
                    <a:pt x="112123" y="95250"/>
                  </a:cubicBezTo>
                  <a:cubicBezTo>
                    <a:pt x="112122" y="95250"/>
                    <a:pt x="112121" y="95250"/>
                    <a:pt x="112120" y="95250"/>
                  </a:cubicBezTo>
                  <a:lnTo>
                    <a:pt x="74690" y="95250"/>
                  </a:lnTo>
                  <a:cubicBezTo>
                    <a:pt x="64362" y="95280"/>
                    <a:pt x="55997" y="103813"/>
                    <a:pt x="55968" y="114348"/>
                  </a:cubicBezTo>
                  <a:lnTo>
                    <a:pt x="55968" y="161925"/>
                  </a:lnTo>
                  <a:lnTo>
                    <a:pt x="65368" y="161925"/>
                  </a:lnTo>
                  <a:cubicBezTo>
                    <a:pt x="70525" y="161925"/>
                    <a:pt x="74706" y="166189"/>
                    <a:pt x="74706" y="171450"/>
                  </a:cubicBezTo>
                  <a:cubicBezTo>
                    <a:pt x="74706" y="176711"/>
                    <a:pt x="70525" y="180975"/>
                    <a:pt x="65368" y="180975"/>
                  </a:cubicBezTo>
                  <a:lnTo>
                    <a:pt x="46691" y="180975"/>
                  </a:lnTo>
                  <a:cubicBezTo>
                    <a:pt x="41534" y="180975"/>
                    <a:pt x="37353" y="176711"/>
                    <a:pt x="37353" y="171450"/>
                  </a:cubicBezTo>
                  <a:lnTo>
                    <a:pt x="37353" y="114300"/>
                  </a:lnTo>
                  <a:cubicBezTo>
                    <a:pt x="37353" y="93258"/>
                    <a:pt x="54075" y="76200"/>
                    <a:pt x="74704" y="76200"/>
                  </a:cubicBezTo>
                  <a:cubicBezTo>
                    <a:pt x="74705" y="76200"/>
                    <a:pt x="74705" y="76200"/>
                    <a:pt x="74706" y="76200"/>
                  </a:cubicBezTo>
                  <a:lnTo>
                    <a:pt x="84044" y="76200"/>
                  </a:lnTo>
                  <a:lnTo>
                    <a:pt x="84044" y="11968"/>
                  </a:lnTo>
                  <a:cubicBezTo>
                    <a:pt x="33006" y="34681"/>
                    <a:pt x="9" y="86077"/>
                    <a:pt x="0" y="142875"/>
                  </a:cubicBezTo>
                  <a:lnTo>
                    <a:pt x="0" y="200025"/>
                  </a:lnTo>
                  <a:lnTo>
                    <a:pt x="317500" y="200025"/>
                  </a:lnTo>
                  <a:lnTo>
                    <a:pt x="317500" y="142875"/>
                  </a:lnTo>
                  <a:cubicBezTo>
                    <a:pt x="317491" y="86077"/>
                    <a:pt x="284493" y="34681"/>
                    <a:pt x="233456" y="11968"/>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8"/>
            <p:cNvSpPr/>
            <p:nvPr/>
          </p:nvSpPr>
          <p:spPr>
            <a:xfrm>
              <a:off x="4342192" y="487236"/>
              <a:ext cx="186764" cy="190500"/>
            </a:xfrm>
            <a:custGeom>
              <a:avLst/>
              <a:gdLst/>
              <a:ahLst/>
              <a:cxnLst/>
              <a:rect l="l" t="t" r="r" b="b"/>
              <a:pathLst>
                <a:path w="186764" h="190500" extrusionOk="0">
                  <a:moveTo>
                    <a:pt x="186765" y="95250"/>
                  </a:moveTo>
                  <a:cubicBezTo>
                    <a:pt x="186765" y="147855"/>
                    <a:pt x="144956" y="190500"/>
                    <a:pt x="93382" y="190500"/>
                  </a:cubicBezTo>
                  <a:cubicBezTo>
                    <a:pt x="41809" y="190500"/>
                    <a:pt x="0" y="147855"/>
                    <a:pt x="0" y="95250"/>
                  </a:cubicBezTo>
                  <a:cubicBezTo>
                    <a:pt x="0" y="42645"/>
                    <a:pt x="41809" y="0"/>
                    <a:pt x="93382" y="0"/>
                  </a:cubicBezTo>
                  <a:cubicBezTo>
                    <a:pt x="144956" y="0"/>
                    <a:pt x="186765" y="42645"/>
                    <a:pt x="186765" y="95250"/>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spTree>
    <p:extLst>
      <p:ext uri="{BB962C8B-B14F-4D97-AF65-F5344CB8AC3E}">
        <p14:creationId xmlns:p14="http://schemas.microsoft.com/office/powerpoint/2010/main" val="4048989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9" name="Google Shape;489;p34"/>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9</a:t>
            </a:fld>
            <a:endParaRPr/>
          </a:p>
        </p:txBody>
      </p:sp>
      <p:sp>
        <p:nvSpPr>
          <p:cNvPr id="495" name="Google Shape;495;p34"/>
          <p:cNvSpPr txBox="1">
            <a:spLocks noGrp="1"/>
          </p:cNvSpPr>
          <p:nvPr>
            <p:ph type="title" idx="4294967295"/>
          </p:nvPr>
        </p:nvSpPr>
        <p:spPr>
          <a:xfrm>
            <a:off x="1104073" y="1542537"/>
            <a:ext cx="2808708" cy="1905956"/>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3600" dirty="0"/>
              <a:t>1. How are we measuring the </a:t>
            </a:r>
            <a:r>
              <a:rPr lang="en-US" sz="3600" dirty="0">
                <a:solidFill>
                  <a:srgbClr val="FFC000"/>
                </a:solidFill>
              </a:rPr>
              <a:t>cost</a:t>
            </a:r>
            <a:r>
              <a:rPr lang="en-US" sz="3600" dirty="0"/>
              <a:t> of care?</a:t>
            </a:r>
            <a:endParaRPr sz="3600" dirty="0"/>
          </a:p>
        </p:txBody>
      </p:sp>
      <p:sp>
        <p:nvSpPr>
          <p:cNvPr id="11" name="Google Shape;495;p34">
            <a:extLst>
              <a:ext uri="{FF2B5EF4-FFF2-40B4-BE49-F238E27FC236}">
                <a16:creationId xmlns:a16="http://schemas.microsoft.com/office/drawing/2014/main" id="{5682B957-4047-BD45-856C-20F66A8BF9EA}"/>
              </a:ext>
            </a:extLst>
          </p:cNvPr>
          <p:cNvSpPr txBox="1">
            <a:spLocks/>
          </p:cNvSpPr>
          <p:nvPr/>
        </p:nvSpPr>
        <p:spPr>
          <a:xfrm>
            <a:off x="4871541" y="1542537"/>
            <a:ext cx="2890225" cy="1905956"/>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3000"/>
              <a:buFont typeface="Barlow SemiBold"/>
              <a:buNone/>
              <a:defRPr sz="3000" b="0" i="0" u="none" strike="noStrike" cap="none">
                <a:solidFill>
                  <a:schemeClr val="lt1"/>
                </a:solidFill>
                <a:latin typeface="Barlow SemiBold"/>
                <a:ea typeface="Barlow SemiBold"/>
                <a:cs typeface="Barlow SemiBold"/>
                <a:sym typeface="Barlow SemiBold"/>
              </a:defRPr>
            </a:lvl1pPr>
            <a:lvl2pPr marR="0" lvl="1" algn="l" rtl="0">
              <a:lnSpc>
                <a:spcPct val="90000"/>
              </a:lnSpc>
              <a:spcBef>
                <a:spcPts val="0"/>
              </a:spcBef>
              <a:spcAft>
                <a:spcPts val="0"/>
              </a:spcAft>
              <a:buClr>
                <a:schemeClr val="lt1"/>
              </a:buClr>
              <a:buSzPts val="3000"/>
              <a:buFont typeface="Barlow SemiBold"/>
              <a:buNone/>
              <a:defRPr sz="3000" b="0" i="0" u="none" strike="noStrike" cap="none">
                <a:solidFill>
                  <a:schemeClr val="lt1"/>
                </a:solidFill>
                <a:latin typeface="Barlow SemiBold"/>
                <a:ea typeface="Barlow SemiBold"/>
                <a:cs typeface="Barlow SemiBold"/>
                <a:sym typeface="Barlow SemiBold"/>
              </a:defRPr>
            </a:lvl2pPr>
            <a:lvl3pPr marR="0" lvl="2" algn="l" rtl="0">
              <a:lnSpc>
                <a:spcPct val="90000"/>
              </a:lnSpc>
              <a:spcBef>
                <a:spcPts val="0"/>
              </a:spcBef>
              <a:spcAft>
                <a:spcPts val="0"/>
              </a:spcAft>
              <a:buClr>
                <a:schemeClr val="lt1"/>
              </a:buClr>
              <a:buSzPts val="3000"/>
              <a:buFont typeface="Barlow SemiBold"/>
              <a:buNone/>
              <a:defRPr sz="3000" b="0" i="0" u="none" strike="noStrike" cap="none">
                <a:solidFill>
                  <a:schemeClr val="lt1"/>
                </a:solidFill>
                <a:latin typeface="Barlow SemiBold"/>
                <a:ea typeface="Barlow SemiBold"/>
                <a:cs typeface="Barlow SemiBold"/>
                <a:sym typeface="Barlow SemiBold"/>
              </a:defRPr>
            </a:lvl3pPr>
            <a:lvl4pPr marR="0" lvl="3" algn="l" rtl="0">
              <a:lnSpc>
                <a:spcPct val="90000"/>
              </a:lnSpc>
              <a:spcBef>
                <a:spcPts val="0"/>
              </a:spcBef>
              <a:spcAft>
                <a:spcPts val="0"/>
              </a:spcAft>
              <a:buClr>
                <a:schemeClr val="lt1"/>
              </a:buClr>
              <a:buSzPts val="3000"/>
              <a:buFont typeface="Barlow SemiBold"/>
              <a:buNone/>
              <a:defRPr sz="3000" b="0" i="0" u="none" strike="noStrike" cap="none">
                <a:solidFill>
                  <a:schemeClr val="lt1"/>
                </a:solidFill>
                <a:latin typeface="Barlow SemiBold"/>
                <a:ea typeface="Barlow SemiBold"/>
                <a:cs typeface="Barlow SemiBold"/>
                <a:sym typeface="Barlow SemiBold"/>
              </a:defRPr>
            </a:lvl4pPr>
            <a:lvl5pPr marR="0" lvl="4" algn="l" rtl="0">
              <a:lnSpc>
                <a:spcPct val="90000"/>
              </a:lnSpc>
              <a:spcBef>
                <a:spcPts val="0"/>
              </a:spcBef>
              <a:spcAft>
                <a:spcPts val="0"/>
              </a:spcAft>
              <a:buClr>
                <a:schemeClr val="lt1"/>
              </a:buClr>
              <a:buSzPts val="3000"/>
              <a:buFont typeface="Barlow SemiBold"/>
              <a:buNone/>
              <a:defRPr sz="3000" b="0" i="0" u="none" strike="noStrike" cap="none">
                <a:solidFill>
                  <a:schemeClr val="lt1"/>
                </a:solidFill>
                <a:latin typeface="Barlow SemiBold"/>
                <a:ea typeface="Barlow SemiBold"/>
                <a:cs typeface="Barlow SemiBold"/>
                <a:sym typeface="Barlow SemiBold"/>
              </a:defRPr>
            </a:lvl5pPr>
            <a:lvl6pPr marR="0" lvl="5" algn="l" rtl="0">
              <a:lnSpc>
                <a:spcPct val="90000"/>
              </a:lnSpc>
              <a:spcBef>
                <a:spcPts val="0"/>
              </a:spcBef>
              <a:spcAft>
                <a:spcPts val="0"/>
              </a:spcAft>
              <a:buClr>
                <a:schemeClr val="lt1"/>
              </a:buClr>
              <a:buSzPts val="3000"/>
              <a:buFont typeface="Barlow SemiBold"/>
              <a:buNone/>
              <a:defRPr sz="3000" b="0" i="0" u="none" strike="noStrike" cap="none">
                <a:solidFill>
                  <a:schemeClr val="lt1"/>
                </a:solidFill>
                <a:latin typeface="Barlow SemiBold"/>
                <a:ea typeface="Barlow SemiBold"/>
                <a:cs typeface="Barlow SemiBold"/>
                <a:sym typeface="Barlow SemiBold"/>
              </a:defRPr>
            </a:lvl6pPr>
            <a:lvl7pPr marR="0" lvl="6" algn="l" rtl="0">
              <a:lnSpc>
                <a:spcPct val="90000"/>
              </a:lnSpc>
              <a:spcBef>
                <a:spcPts val="0"/>
              </a:spcBef>
              <a:spcAft>
                <a:spcPts val="0"/>
              </a:spcAft>
              <a:buClr>
                <a:schemeClr val="lt1"/>
              </a:buClr>
              <a:buSzPts val="3000"/>
              <a:buFont typeface="Barlow SemiBold"/>
              <a:buNone/>
              <a:defRPr sz="3000" b="0" i="0" u="none" strike="noStrike" cap="none">
                <a:solidFill>
                  <a:schemeClr val="lt1"/>
                </a:solidFill>
                <a:latin typeface="Barlow SemiBold"/>
                <a:ea typeface="Barlow SemiBold"/>
                <a:cs typeface="Barlow SemiBold"/>
                <a:sym typeface="Barlow SemiBold"/>
              </a:defRPr>
            </a:lvl7pPr>
            <a:lvl8pPr marR="0" lvl="7" algn="l" rtl="0">
              <a:lnSpc>
                <a:spcPct val="90000"/>
              </a:lnSpc>
              <a:spcBef>
                <a:spcPts val="0"/>
              </a:spcBef>
              <a:spcAft>
                <a:spcPts val="0"/>
              </a:spcAft>
              <a:buClr>
                <a:schemeClr val="lt1"/>
              </a:buClr>
              <a:buSzPts val="3000"/>
              <a:buFont typeface="Barlow SemiBold"/>
              <a:buNone/>
              <a:defRPr sz="3000" b="0" i="0" u="none" strike="noStrike" cap="none">
                <a:solidFill>
                  <a:schemeClr val="lt1"/>
                </a:solidFill>
                <a:latin typeface="Barlow SemiBold"/>
                <a:ea typeface="Barlow SemiBold"/>
                <a:cs typeface="Barlow SemiBold"/>
                <a:sym typeface="Barlow SemiBold"/>
              </a:defRPr>
            </a:lvl8pPr>
            <a:lvl9pPr marR="0" lvl="8" algn="l" rtl="0">
              <a:lnSpc>
                <a:spcPct val="90000"/>
              </a:lnSpc>
              <a:spcBef>
                <a:spcPts val="0"/>
              </a:spcBef>
              <a:spcAft>
                <a:spcPts val="0"/>
              </a:spcAft>
              <a:buClr>
                <a:schemeClr val="lt1"/>
              </a:buClr>
              <a:buSzPts val="3000"/>
              <a:buFont typeface="Barlow SemiBold"/>
              <a:buNone/>
              <a:defRPr sz="3000" b="0" i="0" u="none" strike="noStrike" cap="none">
                <a:solidFill>
                  <a:schemeClr val="lt1"/>
                </a:solidFill>
                <a:latin typeface="Barlow SemiBold"/>
                <a:ea typeface="Barlow SemiBold"/>
                <a:cs typeface="Barlow SemiBold"/>
                <a:sym typeface="Barlow SemiBold"/>
              </a:defRPr>
            </a:lvl9pPr>
          </a:lstStyle>
          <a:p>
            <a:pPr algn="ctr"/>
            <a:r>
              <a:rPr lang="en-US" sz="3600" dirty="0"/>
              <a:t>2. How are we measuring the </a:t>
            </a:r>
            <a:r>
              <a:rPr lang="en-US" sz="3600" dirty="0">
                <a:solidFill>
                  <a:srgbClr val="FFC000"/>
                </a:solidFill>
              </a:rPr>
              <a:t>quality</a:t>
            </a:r>
            <a:r>
              <a:rPr lang="en-US" sz="3600" dirty="0"/>
              <a:t> of care?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Defining “Cost” of Care</a:t>
            </a:r>
            <a:endParaRPr dirty="0"/>
          </a:p>
        </p:txBody>
      </p:sp>
      <p:sp>
        <p:nvSpPr>
          <p:cNvPr id="202" name="Google Shape;202;p18"/>
          <p:cNvSpPr txBox="1">
            <a:spLocks noGrp="1"/>
          </p:cNvSpPr>
          <p:nvPr>
            <p:ph type="body" idx="1"/>
          </p:nvPr>
        </p:nvSpPr>
        <p:spPr>
          <a:xfrm>
            <a:off x="614975" y="1310850"/>
            <a:ext cx="6880978" cy="3669061"/>
          </a:xfrm>
          <a:prstGeom prst="rect">
            <a:avLst/>
          </a:prstGeom>
        </p:spPr>
        <p:txBody>
          <a:bodyPr spcFirstLastPara="1" wrap="square" lIns="0" tIns="0" rIns="0" bIns="0" anchor="t" anchorCtr="0">
            <a:noAutofit/>
          </a:bodyPr>
          <a:lstStyle/>
          <a:p>
            <a:pPr lvl="0"/>
            <a:r>
              <a:rPr lang="en" dirty="0"/>
              <a:t>CMS contains data for average costs per patient for each hospital.</a:t>
            </a:r>
          </a:p>
          <a:p>
            <a:pPr marL="76200" lvl="0" indent="0">
              <a:buNone/>
            </a:pPr>
            <a:endParaRPr lang="en" dirty="0"/>
          </a:p>
          <a:p>
            <a:pPr lvl="0"/>
            <a:r>
              <a:rPr lang="en" dirty="0"/>
              <a:t>Costs for 4 different types of procedures are detailed in the dataset : Heart Attack, Heart Failure, Hip/Knee Replacement, and Pneumonia.</a:t>
            </a:r>
          </a:p>
          <a:p>
            <a:pPr marL="76200" lvl="0" indent="0">
              <a:buNone/>
            </a:pPr>
            <a:endParaRPr lang="en" dirty="0"/>
          </a:p>
          <a:p>
            <a:r>
              <a:rPr lang="en" dirty="0"/>
              <a:t>Average costs are associated with entire </a:t>
            </a:r>
            <a:r>
              <a:rPr lang="en" b="1" dirty="0">
                <a:solidFill>
                  <a:srgbClr val="0070C0"/>
                </a:solidFill>
              </a:rPr>
              <a:t>episode of care</a:t>
            </a:r>
            <a:r>
              <a:rPr lang="en" dirty="0"/>
              <a:t>, not just the procedure itself.</a:t>
            </a:r>
          </a:p>
          <a:p>
            <a:pPr lvl="0"/>
            <a:endParaRPr lang="en" dirty="0"/>
          </a:p>
          <a:p>
            <a:pPr marL="76200" lvl="0" indent="0">
              <a:buNone/>
            </a:pPr>
            <a:endParaRPr dirty="0"/>
          </a:p>
        </p:txBody>
      </p:sp>
      <p:sp>
        <p:nvSpPr>
          <p:cNvPr id="203" name="Google Shape;203;p18"/>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10</a:t>
            </a:fld>
            <a:endParaRPr/>
          </a:p>
        </p:txBody>
      </p:sp>
      <p:grpSp>
        <p:nvGrpSpPr>
          <p:cNvPr id="204" name="Google Shape;204;p18"/>
          <p:cNvGrpSpPr/>
          <p:nvPr/>
        </p:nvGrpSpPr>
        <p:grpSpPr>
          <a:xfrm>
            <a:off x="8436324" y="288377"/>
            <a:ext cx="361474" cy="477145"/>
            <a:chOff x="4276825" y="487236"/>
            <a:chExt cx="317500" cy="419100"/>
          </a:xfrm>
        </p:grpSpPr>
        <p:sp>
          <p:nvSpPr>
            <p:cNvPr id="205" name="Google Shape;205;p18"/>
            <p:cNvSpPr/>
            <p:nvPr/>
          </p:nvSpPr>
          <p:spPr>
            <a:xfrm>
              <a:off x="4276825" y="706311"/>
              <a:ext cx="317500" cy="200025"/>
            </a:xfrm>
            <a:custGeom>
              <a:avLst/>
              <a:gdLst/>
              <a:ahLst/>
              <a:cxnLst/>
              <a:rect l="l" t="t" r="r" b="b"/>
              <a:pathLst>
                <a:path w="317500" h="200025" extrusionOk="0">
                  <a:moveTo>
                    <a:pt x="233456" y="11968"/>
                  </a:moveTo>
                  <a:lnTo>
                    <a:pt x="233456" y="77950"/>
                  </a:lnTo>
                  <a:cubicBezTo>
                    <a:pt x="248043" y="83210"/>
                    <a:pt x="255687" y="99537"/>
                    <a:pt x="250530" y="114415"/>
                  </a:cubicBezTo>
                  <a:cubicBezTo>
                    <a:pt x="245372" y="129294"/>
                    <a:pt x="229367" y="137092"/>
                    <a:pt x="214779" y="131832"/>
                  </a:cubicBezTo>
                  <a:cubicBezTo>
                    <a:pt x="200192" y="126571"/>
                    <a:pt x="192548" y="110244"/>
                    <a:pt x="197705" y="95365"/>
                  </a:cubicBezTo>
                  <a:cubicBezTo>
                    <a:pt x="200526" y="87228"/>
                    <a:pt x="206802" y="80827"/>
                    <a:pt x="214779" y="77950"/>
                  </a:cubicBezTo>
                  <a:lnTo>
                    <a:pt x="214779" y="5296"/>
                  </a:lnTo>
                  <a:cubicBezTo>
                    <a:pt x="202620" y="1818"/>
                    <a:pt x="190055" y="37"/>
                    <a:pt x="177426" y="0"/>
                  </a:cubicBezTo>
                  <a:lnTo>
                    <a:pt x="140074" y="0"/>
                  </a:lnTo>
                  <a:cubicBezTo>
                    <a:pt x="127445" y="37"/>
                    <a:pt x="114880" y="1818"/>
                    <a:pt x="102721" y="5296"/>
                  </a:cubicBezTo>
                  <a:lnTo>
                    <a:pt x="102721" y="76200"/>
                  </a:lnTo>
                  <a:lnTo>
                    <a:pt x="112075" y="76200"/>
                  </a:lnTo>
                  <a:cubicBezTo>
                    <a:pt x="132695" y="76200"/>
                    <a:pt x="149412" y="93251"/>
                    <a:pt x="149412" y="114283"/>
                  </a:cubicBezTo>
                  <a:cubicBezTo>
                    <a:pt x="149412" y="114284"/>
                    <a:pt x="149412" y="114284"/>
                    <a:pt x="149412" y="114284"/>
                  </a:cubicBezTo>
                  <a:lnTo>
                    <a:pt x="149412" y="171450"/>
                  </a:lnTo>
                  <a:cubicBezTo>
                    <a:pt x="149412" y="176711"/>
                    <a:pt x="145231" y="180975"/>
                    <a:pt x="140074" y="180975"/>
                  </a:cubicBezTo>
                  <a:lnTo>
                    <a:pt x="121397" y="180975"/>
                  </a:lnTo>
                  <a:cubicBezTo>
                    <a:pt x="116240" y="180975"/>
                    <a:pt x="112059" y="176711"/>
                    <a:pt x="112059" y="171450"/>
                  </a:cubicBezTo>
                  <a:cubicBezTo>
                    <a:pt x="112059" y="166189"/>
                    <a:pt x="116240" y="161925"/>
                    <a:pt x="121397" y="161925"/>
                  </a:cubicBezTo>
                  <a:lnTo>
                    <a:pt x="130797" y="161925"/>
                  </a:lnTo>
                  <a:lnTo>
                    <a:pt x="130797" y="114300"/>
                  </a:lnTo>
                  <a:cubicBezTo>
                    <a:pt x="130798" y="103780"/>
                    <a:pt x="122437" y="95251"/>
                    <a:pt x="112123" y="95250"/>
                  </a:cubicBezTo>
                  <a:cubicBezTo>
                    <a:pt x="112122" y="95250"/>
                    <a:pt x="112121" y="95250"/>
                    <a:pt x="112120" y="95250"/>
                  </a:cubicBezTo>
                  <a:lnTo>
                    <a:pt x="74690" y="95250"/>
                  </a:lnTo>
                  <a:cubicBezTo>
                    <a:pt x="64362" y="95280"/>
                    <a:pt x="55997" y="103813"/>
                    <a:pt x="55968" y="114348"/>
                  </a:cubicBezTo>
                  <a:lnTo>
                    <a:pt x="55968" y="161925"/>
                  </a:lnTo>
                  <a:lnTo>
                    <a:pt x="65368" y="161925"/>
                  </a:lnTo>
                  <a:cubicBezTo>
                    <a:pt x="70525" y="161925"/>
                    <a:pt x="74706" y="166189"/>
                    <a:pt x="74706" y="171450"/>
                  </a:cubicBezTo>
                  <a:cubicBezTo>
                    <a:pt x="74706" y="176711"/>
                    <a:pt x="70525" y="180975"/>
                    <a:pt x="65368" y="180975"/>
                  </a:cubicBezTo>
                  <a:lnTo>
                    <a:pt x="46691" y="180975"/>
                  </a:lnTo>
                  <a:cubicBezTo>
                    <a:pt x="41534" y="180975"/>
                    <a:pt x="37353" y="176711"/>
                    <a:pt x="37353" y="171450"/>
                  </a:cubicBezTo>
                  <a:lnTo>
                    <a:pt x="37353" y="114300"/>
                  </a:lnTo>
                  <a:cubicBezTo>
                    <a:pt x="37353" y="93258"/>
                    <a:pt x="54075" y="76200"/>
                    <a:pt x="74704" y="76200"/>
                  </a:cubicBezTo>
                  <a:cubicBezTo>
                    <a:pt x="74705" y="76200"/>
                    <a:pt x="74705" y="76200"/>
                    <a:pt x="74706" y="76200"/>
                  </a:cubicBezTo>
                  <a:lnTo>
                    <a:pt x="84044" y="76200"/>
                  </a:lnTo>
                  <a:lnTo>
                    <a:pt x="84044" y="11968"/>
                  </a:lnTo>
                  <a:cubicBezTo>
                    <a:pt x="33006" y="34681"/>
                    <a:pt x="9" y="86077"/>
                    <a:pt x="0" y="142875"/>
                  </a:cubicBezTo>
                  <a:lnTo>
                    <a:pt x="0" y="200025"/>
                  </a:lnTo>
                  <a:lnTo>
                    <a:pt x="317500" y="200025"/>
                  </a:lnTo>
                  <a:lnTo>
                    <a:pt x="317500" y="142875"/>
                  </a:lnTo>
                  <a:cubicBezTo>
                    <a:pt x="317491" y="86077"/>
                    <a:pt x="284493" y="34681"/>
                    <a:pt x="233456" y="11968"/>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8"/>
            <p:cNvSpPr/>
            <p:nvPr/>
          </p:nvSpPr>
          <p:spPr>
            <a:xfrm>
              <a:off x="4342192" y="487236"/>
              <a:ext cx="186764" cy="190500"/>
            </a:xfrm>
            <a:custGeom>
              <a:avLst/>
              <a:gdLst/>
              <a:ahLst/>
              <a:cxnLst/>
              <a:rect l="l" t="t" r="r" b="b"/>
              <a:pathLst>
                <a:path w="186764" h="190500" extrusionOk="0">
                  <a:moveTo>
                    <a:pt x="186765" y="95250"/>
                  </a:moveTo>
                  <a:cubicBezTo>
                    <a:pt x="186765" y="147855"/>
                    <a:pt x="144956" y="190500"/>
                    <a:pt x="93382" y="190500"/>
                  </a:cubicBezTo>
                  <a:cubicBezTo>
                    <a:pt x="41809" y="190500"/>
                    <a:pt x="0" y="147855"/>
                    <a:pt x="0" y="95250"/>
                  </a:cubicBezTo>
                  <a:cubicBezTo>
                    <a:pt x="0" y="42645"/>
                    <a:pt x="41809" y="0"/>
                    <a:pt x="93382" y="0"/>
                  </a:cubicBezTo>
                  <a:cubicBezTo>
                    <a:pt x="144956" y="0"/>
                    <a:pt x="186765" y="42645"/>
                    <a:pt x="186765" y="95250"/>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spTree>
    <p:extLst>
      <p:ext uri="{BB962C8B-B14F-4D97-AF65-F5344CB8AC3E}">
        <p14:creationId xmlns:p14="http://schemas.microsoft.com/office/powerpoint/2010/main" val="3534400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9"/>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How Does Medicare Define an </a:t>
            </a:r>
            <a:r>
              <a:rPr lang="en" u="sng" dirty="0"/>
              <a:t>Episode</a:t>
            </a:r>
            <a:r>
              <a:rPr lang="en" dirty="0"/>
              <a:t> of Care?</a:t>
            </a:r>
            <a:endParaRPr dirty="0"/>
          </a:p>
        </p:txBody>
      </p:sp>
      <p:sp>
        <p:nvSpPr>
          <p:cNvPr id="536" name="Google Shape;536;p39"/>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11</a:t>
            </a:fld>
            <a:endParaRPr/>
          </a:p>
        </p:txBody>
      </p:sp>
      <p:sp>
        <p:nvSpPr>
          <p:cNvPr id="539" name="Google Shape;539;p39"/>
          <p:cNvSpPr/>
          <p:nvPr/>
        </p:nvSpPr>
        <p:spPr>
          <a:xfrm>
            <a:off x="3556552" y="2755950"/>
            <a:ext cx="5034558" cy="393600"/>
          </a:xfrm>
          <a:prstGeom prst="homePlate">
            <a:avLst>
              <a:gd name="adj" fmla="val 32030"/>
            </a:avLst>
          </a:prstGeom>
          <a:solidFill>
            <a:schemeClr val="accent4"/>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dirty="0">
                <a:solidFill>
                  <a:schemeClr val="lt1"/>
                </a:solidFill>
                <a:latin typeface="Barlow"/>
                <a:ea typeface="Barlow"/>
                <a:cs typeface="Barlow"/>
                <a:sym typeface="Barlow"/>
              </a:rPr>
              <a:t>Post-Hospitalization: 30 Days (90 Days for Hip/Knee Replacement) </a:t>
            </a:r>
            <a:endParaRPr sz="1000" dirty="0">
              <a:solidFill>
                <a:schemeClr val="lt1"/>
              </a:solidFill>
              <a:latin typeface="Barlow"/>
              <a:ea typeface="Barlow"/>
              <a:cs typeface="Barlow"/>
              <a:sym typeface="Barlow"/>
            </a:endParaRPr>
          </a:p>
        </p:txBody>
      </p:sp>
      <p:sp>
        <p:nvSpPr>
          <p:cNvPr id="548" name="Google Shape;548;p39"/>
          <p:cNvSpPr/>
          <p:nvPr/>
        </p:nvSpPr>
        <p:spPr>
          <a:xfrm>
            <a:off x="1067831" y="2755950"/>
            <a:ext cx="2624932" cy="393600"/>
          </a:xfrm>
          <a:prstGeom prst="homePlate">
            <a:avLst>
              <a:gd name="adj" fmla="val 32030"/>
            </a:avLst>
          </a:prstGeom>
          <a:solidFill>
            <a:schemeClr val="accent1"/>
          </a:solidFill>
          <a:ln>
            <a:noFill/>
          </a:ln>
          <a:effectLst>
            <a:outerShdw blurRad="28575" dist="9525" algn="bl" rotWithShape="0">
              <a:srgbClr val="000000">
                <a:alpha val="20000"/>
              </a:srgbClr>
            </a:outerShdw>
          </a:effectLst>
        </p:spPr>
        <p:txBody>
          <a:bodyPr spcFirstLastPara="1" wrap="square" lIns="274300" tIns="0" rIns="0" bIns="0" anchor="ctr" anchorCtr="0">
            <a:noAutofit/>
          </a:bodyPr>
          <a:lstStyle/>
          <a:p>
            <a:pPr marL="0" marR="0" lvl="0" indent="0" algn="l" rtl="0">
              <a:lnSpc>
                <a:spcPct val="100000"/>
              </a:lnSpc>
              <a:spcBef>
                <a:spcPts val="0"/>
              </a:spcBef>
              <a:spcAft>
                <a:spcPts val="0"/>
              </a:spcAft>
              <a:buNone/>
            </a:pPr>
            <a:r>
              <a:rPr lang="en" sz="1000" dirty="0">
                <a:solidFill>
                  <a:schemeClr val="lt1"/>
                </a:solidFill>
                <a:latin typeface="Barlow"/>
                <a:ea typeface="Barlow"/>
                <a:cs typeface="Barlow"/>
                <a:sym typeface="Barlow"/>
              </a:rPr>
              <a:t>Hospitalization/Inpatient Stay</a:t>
            </a:r>
            <a:endParaRPr sz="1000" dirty="0">
              <a:solidFill>
                <a:schemeClr val="lt1"/>
              </a:solidFill>
              <a:latin typeface="Barlow"/>
              <a:ea typeface="Barlow"/>
              <a:cs typeface="Barlow"/>
              <a:sym typeface="Barlow"/>
            </a:endParaRPr>
          </a:p>
        </p:txBody>
      </p:sp>
      <p:sp>
        <p:nvSpPr>
          <p:cNvPr id="549" name="Google Shape;549;p39"/>
          <p:cNvSpPr/>
          <p:nvPr/>
        </p:nvSpPr>
        <p:spPr>
          <a:xfrm>
            <a:off x="0" y="2755950"/>
            <a:ext cx="637200" cy="393600"/>
          </a:xfrm>
          <a:prstGeom prst="homePlate">
            <a:avLst>
              <a:gd name="adj" fmla="val 32030"/>
            </a:avLst>
          </a:prstGeom>
          <a:solidFill>
            <a:schemeClr val="lt2"/>
          </a:solidFill>
          <a:ln>
            <a:noFill/>
          </a:ln>
          <a:effectLst>
            <a:outerShdw blurRad="28575" dist="9525" algn="bl" rotWithShape="0">
              <a:srgbClr val="000000">
                <a:alpha val="2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000">
              <a:solidFill>
                <a:schemeClr val="dk1"/>
              </a:solidFill>
            </a:endParaRPr>
          </a:p>
        </p:txBody>
      </p:sp>
      <p:cxnSp>
        <p:nvCxnSpPr>
          <p:cNvPr id="550" name="Google Shape;550;p39"/>
          <p:cNvCxnSpPr/>
          <p:nvPr/>
        </p:nvCxnSpPr>
        <p:spPr>
          <a:xfrm rot="10800000">
            <a:off x="1081842" y="2257350"/>
            <a:ext cx="0" cy="498600"/>
          </a:xfrm>
          <a:prstGeom prst="straightConnector1">
            <a:avLst/>
          </a:prstGeom>
          <a:noFill/>
          <a:ln w="9525" cap="flat" cmpd="sng">
            <a:solidFill>
              <a:schemeClr val="accent6"/>
            </a:solidFill>
            <a:prstDash val="solid"/>
            <a:round/>
            <a:headEnd type="oval" w="med" len="med"/>
            <a:tailEnd type="oval" w="med" len="med"/>
          </a:ln>
        </p:spPr>
      </p:cxnSp>
      <p:sp>
        <p:nvSpPr>
          <p:cNvPr id="551" name="Google Shape;551;p39"/>
          <p:cNvSpPr txBox="1"/>
          <p:nvPr/>
        </p:nvSpPr>
        <p:spPr>
          <a:xfrm>
            <a:off x="840657" y="1679869"/>
            <a:ext cx="1249500" cy="5334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 sz="900" dirty="0">
                <a:solidFill>
                  <a:schemeClr val="dk2"/>
                </a:solidFill>
                <a:latin typeface="Barlow"/>
                <a:ea typeface="Barlow"/>
                <a:cs typeface="Barlow"/>
                <a:sym typeface="Barlow"/>
              </a:rPr>
              <a:t>Admission</a:t>
            </a:r>
            <a:endParaRPr sz="900" dirty="0">
              <a:solidFill>
                <a:schemeClr val="dk2"/>
              </a:solidFill>
              <a:latin typeface="Barlow"/>
              <a:ea typeface="Barlow"/>
              <a:cs typeface="Barlow"/>
              <a:sym typeface="Barlow"/>
            </a:endParaRPr>
          </a:p>
        </p:txBody>
      </p:sp>
      <p:cxnSp>
        <p:nvCxnSpPr>
          <p:cNvPr id="554" name="Google Shape;554;p39"/>
          <p:cNvCxnSpPr/>
          <p:nvPr/>
        </p:nvCxnSpPr>
        <p:spPr>
          <a:xfrm rot="10800000">
            <a:off x="3531015" y="2281931"/>
            <a:ext cx="0" cy="498600"/>
          </a:xfrm>
          <a:prstGeom prst="straightConnector1">
            <a:avLst/>
          </a:prstGeom>
          <a:noFill/>
          <a:ln w="9525" cap="flat" cmpd="sng">
            <a:solidFill>
              <a:schemeClr val="accent6"/>
            </a:solidFill>
            <a:prstDash val="solid"/>
            <a:round/>
            <a:headEnd type="oval" w="med" len="med"/>
            <a:tailEnd type="oval" w="med" len="med"/>
          </a:ln>
        </p:spPr>
      </p:cxnSp>
      <p:sp>
        <p:nvSpPr>
          <p:cNvPr id="555" name="Google Shape;555;p39"/>
          <p:cNvSpPr txBox="1"/>
          <p:nvPr/>
        </p:nvSpPr>
        <p:spPr>
          <a:xfrm>
            <a:off x="3280906" y="1694356"/>
            <a:ext cx="1249500" cy="5334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 sz="900" dirty="0">
                <a:solidFill>
                  <a:schemeClr val="dk2"/>
                </a:solidFill>
                <a:latin typeface="Barlow"/>
                <a:ea typeface="Barlow"/>
                <a:cs typeface="Barlow"/>
                <a:sym typeface="Barlow"/>
              </a:rPr>
              <a:t>Discharge</a:t>
            </a:r>
            <a:endParaRPr sz="900" dirty="0">
              <a:solidFill>
                <a:schemeClr val="dk2"/>
              </a:solidFill>
              <a:latin typeface="Barlow"/>
              <a:ea typeface="Barlow"/>
              <a:cs typeface="Barlow"/>
              <a:sym typeface="Barlow"/>
            </a:endParaRPr>
          </a:p>
        </p:txBody>
      </p:sp>
      <p:cxnSp>
        <p:nvCxnSpPr>
          <p:cNvPr id="558" name="Google Shape;558;p39"/>
          <p:cNvCxnSpPr/>
          <p:nvPr/>
        </p:nvCxnSpPr>
        <p:spPr>
          <a:xfrm rot="10800000">
            <a:off x="6736660" y="2281932"/>
            <a:ext cx="0" cy="498600"/>
          </a:xfrm>
          <a:prstGeom prst="straightConnector1">
            <a:avLst/>
          </a:prstGeom>
          <a:noFill/>
          <a:ln w="9525" cap="flat" cmpd="sng">
            <a:solidFill>
              <a:schemeClr val="accent6"/>
            </a:solidFill>
            <a:prstDash val="solid"/>
            <a:round/>
            <a:headEnd type="oval" w="med" len="med"/>
            <a:tailEnd type="oval" w="med" len="med"/>
          </a:ln>
        </p:spPr>
      </p:cxnSp>
      <p:sp>
        <p:nvSpPr>
          <p:cNvPr id="559" name="Google Shape;559;p39"/>
          <p:cNvSpPr txBox="1"/>
          <p:nvPr/>
        </p:nvSpPr>
        <p:spPr>
          <a:xfrm>
            <a:off x="6322248" y="1701355"/>
            <a:ext cx="1249500" cy="5334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 sz="900" dirty="0">
                <a:solidFill>
                  <a:schemeClr val="dk2"/>
                </a:solidFill>
                <a:latin typeface="Barlow"/>
                <a:ea typeface="Barlow"/>
                <a:cs typeface="Barlow"/>
                <a:sym typeface="Barlow"/>
              </a:rPr>
              <a:t>Can include costs for follow-up care, readmissions, etc.</a:t>
            </a:r>
            <a:endParaRPr sz="900" dirty="0">
              <a:solidFill>
                <a:schemeClr val="dk2"/>
              </a:solidFill>
              <a:latin typeface="Barlow"/>
              <a:ea typeface="Barlow"/>
              <a:cs typeface="Barlow"/>
              <a:sym typeface="Barlow"/>
            </a:endParaRPr>
          </a:p>
        </p:txBody>
      </p:sp>
      <p:cxnSp>
        <p:nvCxnSpPr>
          <p:cNvPr id="562" name="Google Shape;562;p39"/>
          <p:cNvCxnSpPr/>
          <p:nvPr/>
        </p:nvCxnSpPr>
        <p:spPr>
          <a:xfrm rot="10800000">
            <a:off x="2269027" y="3124969"/>
            <a:ext cx="0" cy="498600"/>
          </a:xfrm>
          <a:prstGeom prst="straightConnector1">
            <a:avLst/>
          </a:prstGeom>
          <a:noFill/>
          <a:ln w="9525" cap="flat" cmpd="sng">
            <a:solidFill>
              <a:schemeClr val="accent6"/>
            </a:solidFill>
            <a:prstDash val="solid"/>
            <a:round/>
            <a:headEnd type="oval" w="med" len="med"/>
            <a:tailEnd type="oval" w="med" len="med"/>
          </a:ln>
        </p:spPr>
      </p:cxnSp>
      <p:sp>
        <p:nvSpPr>
          <p:cNvPr id="563" name="Google Shape;563;p39"/>
          <p:cNvSpPr txBox="1"/>
          <p:nvPr/>
        </p:nvSpPr>
        <p:spPr>
          <a:xfrm>
            <a:off x="1755547" y="3659138"/>
            <a:ext cx="1249500" cy="533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dirty="0">
                <a:solidFill>
                  <a:schemeClr val="dk2"/>
                </a:solidFill>
                <a:latin typeface="Barlow"/>
                <a:ea typeface="Barlow"/>
                <a:cs typeface="Barlow"/>
                <a:sym typeface="Barlow"/>
              </a:rPr>
              <a:t>Major procedure(s) or surgeries performed</a:t>
            </a:r>
            <a:endParaRPr sz="900" dirty="0">
              <a:solidFill>
                <a:schemeClr val="dk2"/>
              </a:solidFill>
              <a:latin typeface="Barlow"/>
              <a:ea typeface="Barlow"/>
              <a:cs typeface="Barlow"/>
              <a:sym typeface="Barlow"/>
            </a:endParaRPr>
          </a:p>
        </p:txBody>
      </p:sp>
      <p:cxnSp>
        <p:nvCxnSpPr>
          <p:cNvPr id="566" name="Google Shape;566;p39"/>
          <p:cNvCxnSpPr/>
          <p:nvPr/>
        </p:nvCxnSpPr>
        <p:spPr>
          <a:xfrm rot="10800000">
            <a:off x="6736660" y="3160538"/>
            <a:ext cx="0" cy="498600"/>
          </a:xfrm>
          <a:prstGeom prst="straightConnector1">
            <a:avLst/>
          </a:prstGeom>
          <a:noFill/>
          <a:ln w="9525" cap="flat" cmpd="sng">
            <a:solidFill>
              <a:schemeClr val="accent6"/>
            </a:solidFill>
            <a:prstDash val="solid"/>
            <a:round/>
            <a:headEnd type="oval" w="med" len="med"/>
            <a:tailEnd type="oval" w="med" len="med"/>
          </a:ln>
        </p:spPr>
      </p:cxnSp>
      <p:sp>
        <p:nvSpPr>
          <p:cNvPr id="567" name="Google Shape;567;p39"/>
          <p:cNvSpPr txBox="1"/>
          <p:nvPr/>
        </p:nvSpPr>
        <p:spPr>
          <a:xfrm>
            <a:off x="6108154" y="3684778"/>
            <a:ext cx="1463594" cy="50776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00" dirty="0">
                <a:solidFill>
                  <a:schemeClr val="dk2"/>
                </a:solidFill>
                <a:latin typeface="Barlow"/>
                <a:ea typeface="Barlow"/>
                <a:cs typeface="Barlow"/>
                <a:sym typeface="Barlow"/>
              </a:rPr>
              <a:t>Includes payments from multiple settings, such as Inpatient, Outpatient, Home Health, Hospice, etc.</a:t>
            </a:r>
            <a:endParaRPr sz="900" dirty="0">
              <a:solidFill>
                <a:schemeClr val="dk2"/>
              </a:solidFill>
              <a:latin typeface="Barlow"/>
              <a:ea typeface="Barlow"/>
              <a:cs typeface="Barlow"/>
              <a:sym typeface="Barlow"/>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title"/>
          </p:nvPr>
        </p:nvSpPr>
        <p:spPr>
          <a:xfrm>
            <a:off x="614975" y="360069"/>
            <a:ext cx="3613200" cy="850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Defining “Quality” of Care</a:t>
            </a:r>
            <a:endParaRPr dirty="0"/>
          </a:p>
        </p:txBody>
      </p:sp>
      <p:sp>
        <p:nvSpPr>
          <p:cNvPr id="257" name="Google Shape;257;p22"/>
          <p:cNvSpPr txBox="1">
            <a:spLocks noGrp="1"/>
          </p:cNvSpPr>
          <p:nvPr>
            <p:ph type="body" idx="1"/>
          </p:nvPr>
        </p:nvSpPr>
        <p:spPr>
          <a:xfrm>
            <a:off x="469644" y="1210569"/>
            <a:ext cx="3903862" cy="3551831"/>
          </a:xfrm>
          <a:prstGeom prst="rect">
            <a:avLst/>
          </a:prstGeom>
        </p:spPr>
        <p:txBody>
          <a:bodyPr spcFirstLastPara="1" wrap="square" lIns="0" tIns="0" rIns="0" bIns="0" anchor="t" anchorCtr="0">
            <a:noAutofit/>
          </a:bodyPr>
          <a:lstStyle/>
          <a:p>
            <a:pPr marL="342900" indent="-342900"/>
            <a:r>
              <a:rPr lang="en" sz="2000" dirty="0"/>
              <a:t>Several outcome measures are often used to assess overall quality of care for hospitals (see table).</a:t>
            </a:r>
          </a:p>
          <a:p>
            <a:pPr marL="342900" indent="-342900"/>
            <a:r>
              <a:rPr lang="en" sz="2000" dirty="0"/>
              <a:t>The metrics in this table are used to determine overall 1-5 quality star ratings, which are </a:t>
            </a:r>
            <a:r>
              <a:rPr lang="en" sz="2000" b="1" dirty="0"/>
              <a:t>not</a:t>
            </a:r>
            <a:r>
              <a:rPr lang="en" sz="2000" dirty="0"/>
              <a:t> detailed by procedure.</a:t>
            </a:r>
          </a:p>
          <a:p>
            <a:pPr marL="342900" indent="-342900"/>
            <a:r>
              <a:rPr lang="en" sz="2000" dirty="0"/>
              <a:t>In order to compare with costs by procedure, CMS utilizes </a:t>
            </a:r>
            <a:r>
              <a:rPr lang="en" sz="2000" b="1" dirty="0"/>
              <a:t>mortality/ complication rates</a:t>
            </a:r>
            <a:r>
              <a:rPr lang="en" sz="2000" dirty="0"/>
              <a:t>.</a:t>
            </a:r>
            <a:endParaRPr sz="2000" b="1" dirty="0"/>
          </a:p>
        </p:txBody>
      </p:sp>
      <p:sp>
        <p:nvSpPr>
          <p:cNvPr id="258" name="Google Shape;258;p22"/>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12</a:t>
            </a:fld>
            <a:endParaRPr/>
          </a:p>
        </p:txBody>
      </p:sp>
      <p:graphicFrame>
        <p:nvGraphicFramePr>
          <p:cNvPr id="4" name="Table 3">
            <a:extLst>
              <a:ext uri="{FF2B5EF4-FFF2-40B4-BE49-F238E27FC236}">
                <a16:creationId xmlns:a16="http://schemas.microsoft.com/office/drawing/2014/main" id="{799FD66E-7D84-1543-8262-4A6AF9B7FC39}"/>
              </a:ext>
            </a:extLst>
          </p:cNvPr>
          <p:cNvGraphicFramePr>
            <a:graphicFrameLocks noGrp="1"/>
          </p:cNvGraphicFramePr>
          <p:nvPr>
            <p:extLst>
              <p:ext uri="{D42A27DB-BD31-4B8C-83A1-F6EECF244321}">
                <p14:modId xmlns:p14="http://schemas.microsoft.com/office/powerpoint/2010/main" val="3023678943"/>
              </p:ext>
            </p:extLst>
          </p:nvPr>
        </p:nvGraphicFramePr>
        <p:xfrm>
          <a:off x="4861347" y="1011276"/>
          <a:ext cx="3324446" cy="3047628"/>
        </p:xfrm>
        <a:graphic>
          <a:graphicData uri="http://schemas.openxmlformats.org/drawingml/2006/table">
            <a:tbl>
              <a:tblPr firstRow="1" bandRow="1">
                <a:tableStyleId>{9AEA8867-561A-43F1-AA35-FFD2E45D988E}</a:tableStyleId>
              </a:tblPr>
              <a:tblGrid>
                <a:gridCol w="1662223">
                  <a:extLst>
                    <a:ext uri="{9D8B030D-6E8A-4147-A177-3AD203B41FA5}">
                      <a16:colId xmlns:a16="http://schemas.microsoft.com/office/drawing/2014/main" val="1693546545"/>
                    </a:ext>
                  </a:extLst>
                </a:gridCol>
                <a:gridCol w="1662223">
                  <a:extLst>
                    <a:ext uri="{9D8B030D-6E8A-4147-A177-3AD203B41FA5}">
                      <a16:colId xmlns:a16="http://schemas.microsoft.com/office/drawing/2014/main" val="2617308311"/>
                    </a:ext>
                  </a:extLst>
                </a:gridCol>
              </a:tblGrid>
              <a:tr h="487494">
                <a:tc>
                  <a:txBody>
                    <a:bodyPr/>
                    <a:lstStyle/>
                    <a:p>
                      <a:r>
                        <a:rPr lang="en-US" b="1" dirty="0">
                          <a:solidFill>
                            <a:schemeClr val="bg1"/>
                          </a:solidFill>
                        </a:rPr>
                        <a:t>Measure Group</a:t>
                      </a:r>
                    </a:p>
                  </a:txBody>
                  <a:tcPr anchor="ctr">
                    <a:solidFill>
                      <a:schemeClr val="tx1">
                        <a:lumMod val="25000"/>
                        <a:lumOff val="75000"/>
                      </a:schemeClr>
                    </a:solidFill>
                  </a:tcPr>
                </a:tc>
                <a:tc>
                  <a:txBody>
                    <a:bodyPr/>
                    <a:lstStyle/>
                    <a:p>
                      <a:pPr algn="ctr"/>
                      <a:r>
                        <a:rPr lang="en-US" b="1" dirty="0">
                          <a:solidFill>
                            <a:schemeClr val="bg1"/>
                          </a:solidFill>
                        </a:rPr>
                        <a:t>Weight Used in Star Calculation</a:t>
                      </a:r>
                    </a:p>
                  </a:txBody>
                  <a:tcPr anchor="ctr">
                    <a:solidFill>
                      <a:schemeClr val="tx1">
                        <a:lumMod val="25000"/>
                        <a:lumOff val="75000"/>
                      </a:schemeClr>
                    </a:solidFill>
                  </a:tcPr>
                </a:tc>
                <a:extLst>
                  <a:ext uri="{0D108BD9-81ED-4DB2-BD59-A6C34878D82A}">
                    <a16:rowId xmlns:a16="http://schemas.microsoft.com/office/drawing/2014/main" val="3817435843"/>
                  </a:ext>
                </a:extLst>
              </a:tr>
              <a:tr h="487494">
                <a:tc>
                  <a:txBody>
                    <a:bodyPr/>
                    <a:lstStyle/>
                    <a:p>
                      <a:r>
                        <a:rPr lang="en-US" dirty="0">
                          <a:solidFill>
                            <a:schemeClr val="tx1"/>
                          </a:solidFill>
                        </a:rPr>
                        <a:t>Mortality/ Complication</a:t>
                      </a:r>
                    </a:p>
                  </a:txBody>
                  <a:tcPr anchor="ctr">
                    <a:solidFill>
                      <a:schemeClr val="bg1"/>
                    </a:solidFill>
                  </a:tcPr>
                </a:tc>
                <a:tc>
                  <a:txBody>
                    <a:bodyPr/>
                    <a:lstStyle/>
                    <a:p>
                      <a:pPr algn="ctr"/>
                      <a:r>
                        <a:rPr lang="en-US" dirty="0"/>
                        <a:t>22%</a:t>
                      </a:r>
                    </a:p>
                  </a:txBody>
                  <a:tcPr anchor="ctr">
                    <a:solidFill>
                      <a:schemeClr val="bg1"/>
                    </a:solidFill>
                  </a:tcPr>
                </a:tc>
                <a:extLst>
                  <a:ext uri="{0D108BD9-81ED-4DB2-BD59-A6C34878D82A}">
                    <a16:rowId xmlns:a16="http://schemas.microsoft.com/office/drawing/2014/main" val="1273460077"/>
                  </a:ext>
                </a:extLst>
              </a:tr>
              <a:tr h="487494">
                <a:tc>
                  <a:txBody>
                    <a:bodyPr/>
                    <a:lstStyle/>
                    <a:p>
                      <a:r>
                        <a:rPr lang="en-US" dirty="0"/>
                        <a:t>Safety</a:t>
                      </a:r>
                    </a:p>
                  </a:txBody>
                  <a:tcPr anchor="ctr">
                    <a:solidFill>
                      <a:schemeClr val="bg1"/>
                    </a:solidFill>
                  </a:tcPr>
                </a:tc>
                <a:tc>
                  <a:txBody>
                    <a:bodyPr/>
                    <a:lstStyle/>
                    <a:p>
                      <a:pPr algn="ctr"/>
                      <a:r>
                        <a:rPr lang="en-US" dirty="0"/>
                        <a:t>22%</a:t>
                      </a:r>
                    </a:p>
                  </a:txBody>
                  <a:tcPr anchor="ctr">
                    <a:solidFill>
                      <a:schemeClr val="bg1"/>
                    </a:solidFill>
                  </a:tcPr>
                </a:tc>
                <a:extLst>
                  <a:ext uri="{0D108BD9-81ED-4DB2-BD59-A6C34878D82A}">
                    <a16:rowId xmlns:a16="http://schemas.microsoft.com/office/drawing/2014/main" val="3498542392"/>
                  </a:ext>
                </a:extLst>
              </a:tr>
              <a:tr h="487494">
                <a:tc>
                  <a:txBody>
                    <a:bodyPr/>
                    <a:lstStyle/>
                    <a:p>
                      <a:r>
                        <a:rPr lang="en-US" dirty="0"/>
                        <a:t>Readmission</a:t>
                      </a:r>
                    </a:p>
                  </a:txBody>
                  <a:tcPr anchor="ctr">
                    <a:solidFill>
                      <a:schemeClr val="bg1"/>
                    </a:solidFill>
                  </a:tcPr>
                </a:tc>
                <a:tc>
                  <a:txBody>
                    <a:bodyPr/>
                    <a:lstStyle/>
                    <a:p>
                      <a:pPr algn="ctr"/>
                      <a:r>
                        <a:rPr lang="en-US" dirty="0"/>
                        <a:t>22%</a:t>
                      </a:r>
                    </a:p>
                  </a:txBody>
                  <a:tcPr anchor="ctr">
                    <a:solidFill>
                      <a:schemeClr val="bg1"/>
                    </a:solidFill>
                  </a:tcPr>
                </a:tc>
                <a:extLst>
                  <a:ext uri="{0D108BD9-81ED-4DB2-BD59-A6C34878D82A}">
                    <a16:rowId xmlns:a16="http://schemas.microsoft.com/office/drawing/2014/main" val="805616082"/>
                  </a:ext>
                </a:extLst>
              </a:tr>
              <a:tr h="487494">
                <a:tc>
                  <a:txBody>
                    <a:bodyPr/>
                    <a:lstStyle/>
                    <a:p>
                      <a:r>
                        <a:rPr lang="en-US" dirty="0"/>
                        <a:t>Patient Experience</a:t>
                      </a:r>
                    </a:p>
                  </a:txBody>
                  <a:tcPr anchor="ctr">
                    <a:solidFill>
                      <a:schemeClr val="bg1"/>
                    </a:solidFill>
                  </a:tcPr>
                </a:tc>
                <a:tc>
                  <a:txBody>
                    <a:bodyPr/>
                    <a:lstStyle/>
                    <a:p>
                      <a:pPr algn="ctr"/>
                      <a:r>
                        <a:rPr lang="en-US" dirty="0"/>
                        <a:t>22%</a:t>
                      </a:r>
                    </a:p>
                  </a:txBody>
                  <a:tcPr anchor="ctr">
                    <a:solidFill>
                      <a:schemeClr val="bg1"/>
                    </a:solidFill>
                  </a:tcPr>
                </a:tc>
                <a:extLst>
                  <a:ext uri="{0D108BD9-81ED-4DB2-BD59-A6C34878D82A}">
                    <a16:rowId xmlns:a16="http://schemas.microsoft.com/office/drawing/2014/main" val="827074143"/>
                  </a:ext>
                </a:extLst>
              </a:tr>
              <a:tr h="487494">
                <a:tc>
                  <a:txBody>
                    <a:bodyPr/>
                    <a:lstStyle/>
                    <a:p>
                      <a:r>
                        <a:rPr lang="en-US" dirty="0"/>
                        <a:t>Timely &amp; Effective Care</a:t>
                      </a:r>
                    </a:p>
                  </a:txBody>
                  <a:tcPr anchor="ctr">
                    <a:solidFill>
                      <a:schemeClr val="bg1"/>
                    </a:solidFill>
                  </a:tcPr>
                </a:tc>
                <a:tc>
                  <a:txBody>
                    <a:bodyPr/>
                    <a:lstStyle/>
                    <a:p>
                      <a:pPr algn="ctr"/>
                      <a:r>
                        <a:rPr lang="en-US" dirty="0"/>
                        <a:t>12%</a:t>
                      </a:r>
                    </a:p>
                  </a:txBody>
                  <a:tcPr anchor="ctr">
                    <a:solidFill>
                      <a:schemeClr val="bg1"/>
                    </a:solidFill>
                  </a:tcPr>
                </a:tc>
                <a:extLst>
                  <a:ext uri="{0D108BD9-81ED-4DB2-BD59-A6C34878D82A}">
                    <a16:rowId xmlns:a16="http://schemas.microsoft.com/office/drawing/2014/main" val="1574440283"/>
                  </a:ext>
                </a:extLst>
              </a:tr>
            </a:tbl>
          </a:graphicData>
        </a:graphic>
      </p:graphicFrame>
      <p:sp>
        <p:nvSpPr>
          <p:cNvPr id="6" name="Rectangle 5">
            <a:extLst>
              <a:ext uri="{FF2B5EF4-FFF2-40B4-BE49-F238E27FC236}">
                <a16:creationId xmlns:a16="http://schemas.microsoft.com/office/drawing/2014/main" id="{89E394FE-02D0-FA4E-8C9E-67EA5EF73FA4}"/>
              </a:ext>
            </a:extLst>
          </p:cNvPr>
          <p:cNvSpPr/>
          <p:nvPr/>
        </p:nvSpPr>
        <p:spPr>
          <a:xfrm>
            <a:off x="4861347" y="1520456"/>
            <a:ext cx="3324446" cy="531628"/>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type="ctrTitle"/>
          </p:nvPr>
        </p:nvSpPr>
        <p:spPr>
          <a:xfrm>
            <a:off x="649158" y="1760471"/>
            <a:ext cx="4890405" cy="1561179"/>
          </a:xfrm>
          <a:prstGeom prst="rect">
            <a:avLst/>
          </a:prstGeom>
        </p:spPr>
        <p:txBody>
          <a:bodyPr spcFirstLastPara="1" wrap="square" lIns="0" tIns="0" rIns="0" bIns="0" anchor="b" anchorCtr="0">
            <a:noAutofit/>
          </a:bodyPr>
          <a:lstStyle/>
          <a:p>
            <a:pPr algn="ctr">
              <a:lnSpc>
                <a:spcPct val="140016"/>
              </a:lnSpc>
            </a:pPr>
            <a:r>
              <a:rPr lang="en-US" dirty="0"/>
              <a:t>Dashboards: Analysis &amp; Insights</a:t>
            </a:r>
          </a:p>
        </p:txBody>
      </p:sp>
      <p:sp>
        <p:nvSpPr>
          <p:cNvPr id="186" name="Google Shape;186;p16"/>
          <p:cNvSpPr txBox="1"/>
          <p:nvPr/>
        </p:nvSpPr>
        <p:spPr>
          <a:xfrm>
            <a:off x="6589900" y="759950"/>
            <a:ext cx="2554200" cy="256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600" dirty="0">
                <a:solidFill>
                  <a:schemeClr val="lt1"/>
                </a:solidFill>
                <a:latin typeface="Barlow SemiBold"/>
                <a:ea typeface="Barlow SemiBold"/>
                <a:cs typeface="Barlow SemiBold"/>
                <a:sym typeface="Barlow SemiBold"/>
              </a:rPr>
              <a:t>03</a:t>
            </a:r>
            <a:endParaRPr sz="9600" dirty="0">
              <a:solidFill>
                <a:schemeClr val="lt1"/>
              </a:solidFill>
              <a:latin typeface="Barlow SemiBold"/>
              <a:ea typeface="Barlow SemiBold"/>
              <a:cs typeface="Barlow SemiBold"/>
              <a:sym typeface="Barlow SemiBold"/>
            </a:endParaRPr>
          </a:p>
        </p:txBody>
      </p:sp>
    </p:spTree>
    <p:extLst>
      <p:ext uri="{BB962C8B-B14F-4D97-AF65-F5344CB8AC3E}">
        <p14:creationId xmlns:p14="http://schemas.microsoft.com/office/powerpoint/2010/main" val="3301826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3"/>
        <p:cNvGrpSpPr/>
        <p:nvPr/>
      </p:nvGrpSpPr>
      <p:grpSpPr>
        <a:xfrm>
          <a:off x="0" y="0"/>
          <a:ext cx="0" cy="0"/>
          <a:chOff x="0" y="0"/>
          <a:chExt cx="0" cy="0"/>
        </a:xfrm>
      </p:grpSpPr>
      <p:sp>
        <p:nvSpPr>
          <p:cNvPr id="344" name="Google Shape;344;p27"/>
          <p:cNvSpPr txBox="1">
            <a:spLocks noGrp="1"/>
          </p:cNvSpPr>
          <p:nvPr>
            <p:ph type="ctrTitle" idx="4294967295"/>
          </p:nvPr>
        </p:nvSpPr>
        <p:spPr>
          <a:xfrm>
            <a:off x="944584" y="1838532"/>
            <a:ext cx="78432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7200" dirty="0"/>
              <a:t>Dashboard Tour</a:t>
            </a:r>
            <a:endParaRPr sz="7200" dirty="0"/>
          </a:p>
        </p:txBody>
      </p:sp>
      <p:sp>
        <p:nvSpPr>
          <p:cNvPr id="346" name="Google Shape;346;p27"/>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type="ctrTitle"/>
          </p:nvPr>
        </p:nvSpPr>
        <p:spPr>
          <a:xfrm>
            <a:off x="510935" y="1632880"/>
            <a:ext cx="5209382" cy="1561179"/>
          </a:xfrm>
          <a:prstGeom prst="rect">
            <a:avLst/>
          </a:prstGeom>
        </p:spPr>
        <p:txBody>
          <a:bodyPr spcFirstLastPara="1" wrap="square" lIns="0" tIns="0" rIns="0" bIns="0" anchor="b" anchorCtr="0">
            <a:noAutofit/>
          </a:bodyPr>
          <a:lstStyle/>
          <a:p>
            <a:pPr algn="ctr">
              <a:lnSpc>
                <a:spcPct val="140016"/>
              </a:lnSpc>
            </a:pPr>
            <a:r>
              <a:rPr lang="en-US" dirty="0"/>
              <a:t>Conclusions, Data Limitations, &amp; Next Steps</a:t>
            </a:r>
          </a:p>
        </p:txBody>
      </p:sp>
      <p:sp>
        <p:nvSpPr>
          <p:cNvPr id="186" name="Google Shape;186;p16"/>
          <p:cNvSpPr txBox="1"/>
          <p:nvPr/>
        </p:nvSpPr>
        <p:spPr>
          <a:xfrm>
            <a:off x="6589900" y="759950"/>
            <a:ext cx="2554200" cy="256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600" dirty="0">
                <a:solidFill>
                  <a:schemeClr val="lt1"/>
                </a:solidFill>
                <a:latin typeface="Barlow SemiBold"/>
                <a:ea typeface="Barlow SemiBold"/>
                <a:cs typeface="Barlow SemiBold"/>
                <a:sym typeface="Barlow SemiBold"/>
              </a:rPr>
              <a:t>04</a:t>
            </a:r>
            <a:endParaRPr sz="9600" dirty="0">
              <a:solidFill>
                <a:schemeClr val="lt1"/>
              </a:solidFill>
              <a:latin typeface="Barlow SemiBold"/>
              <a:ea typeface="Barlow SemiBold"/>
              <a:cs typeface="Barlow SemiBold"/>
              <a:sym typeface="Barlow SemiBold"/>
            </a:endParaRPr>
          </a:p>
        </p:txBody>
      </p:sp>
    </p:spTree>
    <p:extLst>
      <p:ext uri="{BB962C8B-B14F-4D97-AF65-F5344CB8AC3E}">
        <p14:creationId xmlns:p14="http://schemas.microsoft.com/office/powerpoint/2010/main" val="4287045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Conclusions/Takeaways</a:t>
            </a:r>
            <a:endParaRPr dirty="0"/>
          </a:p>
        </p:txBody>
      </p:sp>
      <p:sp>
        <p:nvSpPr>
          <p:cNvPr id="202" name="Google Shape;202;p18"/>
          <p:cNvSpPr txBox="1">
            <a:spLocks noGrp="1"/>
          </p:cNvSpPr>
          <p:nvPr>
            <p:ph type="body" idx="1"/>
          </p:nvPr>
        </p:nvSpPr>
        <p:spPr>
          <a:xfrm>
            <a:off x="614975" y="1310850"/>
            <a:ext cx="6757800" cy="3669061"/>
          </a:xfrm>
          <a:prstGeom prst="rect">
            <a:avLst/>
          </a:prstGeom>
        </p:spPr>
        <p:txBody>
          <a:bodyPr spcFirstLastPara="1" wrap="square" lIns="0" tIns="0" rIns="0" bIns="0" anchor="t" anchorCtr="0">
            <a:noAutofit/>
          </a:bodyPr>
          <a:lstStyle/>
          <a:p>
            <a:pPr lvl="0"/>
            <a:r>
              <a:rPr lang="en" sz="1900" dirty="0"/>
              <a:t>In most cases, at a minimum, there is </a:t>
            </a:r>
            <a:r>
              <a:rPr lang="en" sz="1900" b="1" dirty="0">
                <a:solidFill>
                  <a:srgbClr val="0070C0"/>
                </a:solidFill>
              </a:rPr>
              <a:t>little-to-no correlation</a:t>
            </a:r>
            <a:r>
              <a:rPr lang="en" sz="1900" dirty="0">
                <a:solidFill>
                  <a:srgbClr val="0070C0"/>
                </a:solidFill>
              </a:rPr>
              <a:t> </a:t>
            </a:r>
            <a:r>
              <a:rPr lang="en" sz="1900" dirty="0"/>
              <a:t>between cost and quality of care.  In other words, spending more for a medical procedure does </a:t>
            </a:r>
            <a:r>
              <a:rPr lang="en" sz="1900" b="1" dirty="0">
                <a:solidFill>
                  <a:srgbClr val="0070C0"/>
                </a:solidFill>
              </a:rPr>
              <a:t>NOT</a:t>
            </a:r>
            <a:r>
              <a:rPr lang="en" sz="1900" dirty="0"/>
              <a:t> guarantee a higher quality of care.</a:t>
            </a:r>
          </a:p>
          <a:p>
            <a:pPr marL="76200" lvl="0" indent="0">
              <a:buNone/>
            </a:pPr>
            <a:endParaRPr lang="en" sz="1900" dirty="0"/>
          </a:p>
          <a:p>
            <a:pPr lvl="0"/>
            <a:r>
              <a:rPr lang="en" sz="1900" dirty="0"/>
              <a:t>For conditions with a longer episode of care (</a:t>
            </a:r>
            <a:r>
              <a:rPr lang="en" sz="1900" dirty="0" err="1"/>
              <a:t>ie</a:t>
            </a:r>
            <a:r>
              <a:rPr lang="en" sz="1900" dirty="0"/>
              <a:t>: Hip/Knee replacement), </a:t>
            </a:r>
            <a:r>
              <a:rPr lang="en" sz="1900"/>
              <a:t>higher costs over time </a:t>
            </a:r>
            <a:r>
              <a:rPr lang="en" sz="1900" dirty="0"/>
              <a:t>actually translate to a </a:t>
            </a:r>
            <a:r>
              <a:rPr lang="en" sz="1900" b="1" dirty="0">
                <a:solidFill>
                  <a:srgbClr val="0070C0"/>
                </a:solidFill>
              </a:rPr>
              <a:t>lower</a:t>
            </a:r>
            <a:r>
              <a:rPr lang="en" sz="1900" dirty="0"/>
              <a:t> quality of care, on average.</a:t>
            </a:r>
          </a:p>
          <a:p>
            <a:pPr marL="76200" lvl="0" indent="0">
              <a:buNone/>
            </a:pPr>
            <a:endParaRPr lang="en" sz="1900" dirty="0"/>
          </a:p>
          <a:p>
            <a:r>
              <a:rPr lang="en" sz="1900" dirty="0"/>
              <a:t>Higher quality facilities are more efficient in providing care, yielding lower costs overall.</a:t>
            </a:r>
            <a:endParaRPr lang="en" sz="1900" b="1" dirty="0"/>
          </a:p>
          <a:p>
            <a:pPr lvl="0"/>
            <a:endParaRPr lang="en" dirty="0"/>
          </a:p>
          <a:p>
            <a:pPr marL="76200" lvl="0" indent="0">
              <a:buNone/>
            </a:pPr>
            <a:endParaRPr dirty="0"/>
          </a:p>
        </p:txBody>
      </p:sp>
      <p:sp>
        <p:nvSpPr>
          <p:cNvPr id="203" name="Google Shape;203;p18"/>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16</a:t>
            </a:fld>
            <a:endParaRPr/>
          </a:p>
        </p:txBody>
      </p:sp>
      <p:grpSp>
        <p:nvGrpSpPr>
          <p:cNvPr id="204" name="Google Shape;204;p18"/>
          <p:cNvGrpSpPr/>
          <p:nvPr/>
        </p:nvGrpSpPr>
        <p:grpSpPr>
          <a:xfrm>
            <a:off x="8436324" y="288377"/>
            <a:ext cx="361474" cy="477145"/>
            <a:chOff x="4276825" y="487236"/>
            <a:chExt cx="317500" cy="419100"/>
          </a:xfrm>
        </p:grpSpPr>
        <p:sp>
          <p:nvSpPr>
            <p:cNvPr id="205" name="Google Shape;205;p18"/>
            <p:cNvSpPr/>
            <p:nvPr/>
          </p:nvSpPr>
          <p:spPr>
            <a:xfrm>
              <a:off x="4276825" y="706311"/>
              <a:ext cx="317500" cy="200025"/>
            </a:xfrm>
            <a:custGeom>
              <a:avLst/>
              <a:gdLst/>
              <a:ahLst/>
              <a:cxnLst/>
              <a:rect l="l" t="t" r="r" b="b"/>
              <a:pathLst>
                <a:path w="317500" h="200025" extrusionOk="0">
                  <a:moveTo>
                    <a:pt x="233456" y="11968"/>
                  </a:moveTo>
                  <a:lnTo>
                    <a:pt x="233456" y="77950"/>
                  </a:lnTo>
                  <a:cubicBezTo>
                    <a:pt x="248043" y="83210"/>
                    <a:pt x="255687" y="99537"/>
                    <a:pt x="250530" y="114415"/>
                  </a:cubicBezTo>
                  <a:cubicBezTo>
                    <a:pt x="245372" y="129294"/>
                    <a:pt x="229367" y="137092"/>
                    <a:pt x="214779" y="131832"/>
                  </a:cubicBezTo>
                  <a:cubicBezTo>
                    <a:pt x="200192" y="126571"/>
                    <a:pt x="192548" y="110244"/>
                    <a:pt x="197705" y="95365"/>
                  </a:cubicBezTo>
                  <a:cubicBezTo>
                    <a:pt x="200526" y="87228"/>
                    <a:pt x="206802" y="80827"/>
                    <a:pt x="214779" y="77950"/>
                  </a:cubicBezTo>
                  <a:lnTo>
                    <a:pt x="214779" y="5296"/>
                  </a:lnTo>
                  <a:cubicBezTo>
                    <a:pt x="202620" y="1818"/>
                    <a:pt x="190055" y="37"/>
                    <a:pt x="177426" y="0"/>
                  </a:cubicBezTo>
                  <a:lnTo>
                    <a:pt x="140074" y="0"/>
                  </a:lnTo>
                  <a:cubicBezTo>
                    <a:pt x="127445" y="37"/>
                    <a:pt x="114880" y="1818"/>
                    <a:pt x="102721" y="5296"/>
                  </a:cubicBezTo>
                  <a:lnTo>
                    <a:pt x="102721" y="76200"/>
                  </a:lnTo>
                  <a:lnTo>
                    <a:pt x="112075" y="76200"/>
                  </a:lnTo>
                  <a:cubicBezTo>
                    <a:pt x="132695" y="76200"/>
                    <a:pt x="149412" y="93251"/>
                    <a:pt x="149412" y="114283"/>
                  </a:cubicBezTo>
                  <a:cubicBezTo>
                    <a:pt x="149412" y="114284"/>
                    <a:pt x="149412" y="114284"/>
                    <a:pt x="149412" y="114284"/>
                  </a:cubicBezTo>
                  <a:lnTo>
                    <a:pt x="149412" y="171450"/>
                  </a:lnTo>
                  <a:cubicBezTo>
                    <a:pt x="149412" y="176711"/>
                    <a:pt x="145231" y="180975"/>
                    <a:pt x="140074" y="180975"/>
                  </a:cubicBezTo>
                  <a:lnTo>
                    <a:pt x="121397" y="180975"/>
                  </a:lnTo>
                  <a:cubicBezTo>
                    <a:pt x="116240" y="180975"/>
                    <a:pt x="112059" y="176711"/>
                    <a:pt x="112059" y="171450"/>
                  </a:cubicBezTo>
                  <a:cubicBezTo>
                    <a:pt x="112059" y="166189"/>
                    <a:pt x="116240" y="161925"/>
                    <a:pt x="121397" y="161925"/>
                  </a:cubicBezTo>
                  <a:lnTo>
                    <a:pt x="130797" y="161925"/>
                  </a:lnTo>
                  <a:lnTo>
                    <a:pt x="130797" y="114300"/>
                  </a:lnTo>
                  <a:cubicBezTo>
                    <a:pt x="130798" y="103780"/>
                    <a:pt x="122437" y="95251"/>
                    <a:pt x="112123" y="95250"/>
                  </a:cubicBezTo>
                  <a:cubicBezTo>
                    <a:pt x="112122" y="95250"/>
                    <a:pt x="112121" y="95250"/>
                    <a:pt x="112120" y="95250"/>
                  </a:cubicBezTo>
                  <a:lnTo>
                    <a:pt x="74690" y="95250"/>
                  </a:lnTo>
                  <a:cubicBezTo>
                    <a:pt x="64362" y="95280"/>
                    <a:pt x="55997" y="103813"/>
                    <a:pt x="55968" y="114348"/>
                  </a:cubicBezTo>
                  <a:lnTo>
                    <a:pt x="55968" y="161925"/>
                  </a:lnTo>
                  <a:lnTo>
                    <a:pt x="65368" y="161925"/>
                  </a:lnTo>
                  <a:cubicBezTo>
                    <a:pt x="70525" y="161925"/>
                    <a:pt x="74706" y="166189"/>
                    <a:pt x="74706" y="171450"/>
                  </a:cubicBezTo>
                  <a:cubicBezTo>
                    <a:pt x="74706" y="176711"/>
                    <a:pt x="70525" y="180975"/>
                    <a:pt x="65368" y="180975"/>
                  </a:cubicBezTo>
                  <a:lnTo>
                    <a:pt x="46691" y="180975"/>
                  </a:lnTo>
                  <a:cubicBezTo>
                    <a:pt x="41534" y="180975"/>
                    <a:pt x="37353" y="176711"/>
                    <a:pt x="37353" y="171450"/>
                  </a:cubicBezTo>
                  <a:lnTo>
                    <a:pt x="37353" y="114300"/>
                  </a:lnTo>
                  <a:cubicBezTo>
                    <a:pt x="37353" y="93258"/>
                    <a:pt x="54075" y="76200"/>
                    <a:pt x="74704" y="76200"/>
                  </a:cubicBezTo>
                  <a:cubicBezTo>
                    <a:pt x="74705" y="76200"/>
                    <a:pt x="74705" y="76200"/>
                    <a:pt x="74706" y="76200"/>
                  </a:cubicBezTo>
                  <a:lnTo>
                    <a:pt x="84044" y="76200"/>
                  </a:lnTo>
                  <a:lnTo>
                    <a:pt x="84044" y="11968"/>
                  </a:lnTo>
                  <a:cubicBezTo>
                    <a:pt x="33006" y="34681"/>
                    <a:pt x="9" y="86077"/>
                    <a:pt x="0" y="142875"/>
                  </a:cubicBezTo>
                  <a:lnTo>
                    <a:pt x="0" y="200025"/>
                  </a:lnTo>
                  <a:lnTo>
                    <a:pt x="317500" y="200025"/>
                  </a:lnTo>
                  <a:lnTo>
                    <a:pt x="317500" y="142875"/>
                  </a:lnTo>
                  <a:cubicBezTo>
                    <a:pt x="317491" y="86077"/>
                    <a:pt x="284493" y="34681"/>
                    <a:pt x="233456" y="11968"/>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8"/>
            <p:cNvSpPr/>
            <p:nvPr/>
          </p:nvSpPr>
          <p:spPr>
            <a:xfrm>
              <a:off x="4342192" y="487236"/>
              <a:ext cx="186764" cy="190500"/>
            </a:xfrm>
            <a:custGeom>
              <a:avLst/>
              <a:gdLst/>
              <a:ahLst/>
              <a:cxnLst/>
              <a:rect l="l" t="t" r="r" b="b"/>
              <a:pathLst>
                <a:path w="186764" h="190500" extrusionOk="0">
                  <a:moveTo>
                    <a:pt x="186765" y="95250"/>
                  </a:moveTo>
                  <a:cubicBezTo>
                    <a:pt x="186765" y="147855"/>
                    <a:pt x="144956" y="190500"/>
                    <a:pt x="93382" y="190500"/>
                  </a:cubicBezTo>
                  <a:cubicBezTo>
                    <a:pt x="41809" y="190500"/>
                    <a:pt x="0" y="147855"/>
                    <a:pt x="0" y="95250"/>
                  </a:cubicBezTo>
                  <a:cubicBezTo>
                    <a:pt x="0" y="42645"/>
                    <a:pt x="41809" y="0"/>
                    <a:pt x="93382" y="0"/>
                  </a:cubicBezTo>
                  <a:cubicBezTo>
                    <a:pt x="144956" y="0"/>
                    <a:pt x="186765" y="42645"/>
                    <a:pt x="186765" y="95250"/>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spTree>
    <p:extLst>
      <p:ext uri="{BB962C8B-B14F-4D97-AF65-F5344CB8AC3E}">
        <p14:creationId xmlns:p14="http://schemas.microsoft.com/office/powerpoint/2010/main" val="3501159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Next Steps</a:t>
            </a:r>
            <a:endParaRPr dirty="0"/>
          </a:p>
        </p:txBody>
      </p:sp>
      <p:sp>
        <p:nvSpPr>
          <p:cNvPr id="202" name="Google Shape;202;p18"/>
          <p:cNvSpPr txBox="1">
            <a:spLocks noGrp="1"/>
          </p:cNvSpPr>
          <p:nvPr>
            <p:ph type="body" idx="1"/>
          </p:nvPr>
        </p:nvSpPr>
        <p:spPr>
          <a:xfrm>
            <a:off x="614975" y="1479739"/>
            <a:ext cx="6757800" cy="3669061"/>
          </a:xfrm>
          <a:prstGeom prst="rect">
            <a:avLst/>
          </a:prstGeom>
        </p:spPr>
        <p:txBody>
          <a:bodyPr spcFirstLastPara="1" wrap="square" lIns="0" tIns="0" rIns="0" bIns="0" anchor="t" anchorCtr="0">
            <a:noAutofit/>
          </a:bodyPr>
          <a:lstStyle/>
          <a:p>
            <a:pPr lvl="0"/>
            <a:r>
              <a:rPr lang="en" sz="1800" dirty="0"/>
              <a:t>Locate data for additional conditions, and for other types of facilities (outpatient, urgent care, etc.)</a:t>
            </a:r>
          </a:p>
          <a:p>
            <a:pPr marL="76200" lvl="0" indent="0">
              <a:buNone/>
            </a:pPr>
            <a:endParaRPr lang="en" sz="1800" dirty="0"/>
          </a:p>
          <a:p>
            <a:pPr lvl="0"/>
            <a:r>
              <a:rPr lang="en" sz="1800" dirty="0"/>
              <a:t>Utilize data for other types of outcome measurements (aside from just complication / mortality rates).</a:t>
            </a:r>
          </a:p>
          <a:p>
            <a:pPr marL="76200" lvl="0" indent="0">
              <a:buNone/>
            </a:pPr>
            <a:endParaRPr lang="en" sz="1800" dirty="0"/>
          </a:p>
          <a:p>
            <a:r>
              <a:rPr lang="en" sz="1800" dirty="0"/>
              <a:t>Some health tech companies specialize in this type of work, steering consumers to higher-quality providers and providing more </a:t>
            </a:r>
            <a:r>
              <a:rPr lang="en-US" sz="1800" dirty="0"/>
              <a:t>transparency </a:t>
            </a:r>
            <a:r>
              <a:rPr lang="en" sz="1800" dirty="0"/>
              <a:t>for the costs of various procedures.</a:t>
            </a:r>
          </a:p>
          <a:p>
            <a:pPr marL="76200" lvl="0" indent="0">
              <a:buNone/>
            </a:pPr>
            <a:endParaRPr dirty="0"/>
          </a:p>
        </p:txBody>
      </p:sp>
      <p:sp>
        <p:nvSpPr>
          <p:cNvPr id="203" name="Google Shape;203;p18"/>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17</a:t>
            </a:fld>
            <a:endParaRPr/>
          </a:p>
        </p:txBody>
      </p:sp>
      <p:grpSp>
        <p:nvGrpSpPr>
          <p:cNvPr id="204" name="Google Shape;204;p18"/>
          <p:cNvGrpSpPr/>
          <p:nvPr/>
        </p:nvGrpSpPr>
        <p:grpSpPr>
          <a:xfrm>
            <a:off x="8436324" y="288377"/>
            <a:ext cx="361474" cy="477145"/>
            <a:chOff x="4276825" y="487236"/>
            <a:chExt cx="317500" cy="419100"/>
          </a:xfrm>
        </p:grpSpPr>
        <p:sp>
          <p:nvSpPr>
            <p:cNvPr id="205" name="Google Shape;205;p18"/>
            <p:cNvSpPr/>
            <p:nvPr/>
          </p:nvSpPr>
          <p:spPr>
            <a:xfrm>
              <a:off x="4276825" y="706311"/>
              <a:ext cx="317500" cy="200025"/>
            </a:xfrm>
            <a:custGeom>
              <a:avLst/>
              <a:gdLst/>
              <a:ahLst/>
              <a:cxnLst/>
              <a:rect l="l" t="t" r="r" b="b"/>
              <a:pathLst>
                <a:path w="317500" h="200025" extrusionOk="0">
                  <a:moveTo>
                    <a:pt x="233456" y="11968"/>
                  </a:moveTo>
                  <a:lnTo>
                    <a:pt x="233456" y="77950"/>
                  </a:lnTo>
                  <a:cubicBezTo>
                    <a:pt x="248043" y="83210"/>
                    <a:pt x="255687" y="99537"/>
                    <a:pt x="250530" y="114415"/>
                  </a:cubicBezTo>
                  <a:cubicBezTo>
                    <a:pt x="245372" y="129294"/>
                    <a:pt x="229367" y="137092"/>
                    <a:pt x="214779" y="131832"/>
                  </a:cubicBezTo>
                  <a:cubicBezTo>
                    <a:pt x="200192" y="126571"/>
                    <a:pt x="192548" y="110244"/>
                    <a:pt x="197705" y="95365"/>
                  </a:cubicBezTo>
                  <a:cubicBezTo>
                    <a:pt x="200526" y="87228"/>
                    <a:pt x="206802" y="80827"/>
                    <a:pt x="214779" y="77950"/>
                  </a:cubicBezTo>
                  <a:lnTo>
                    <a:pt x="214779" y="5296"/>
                  </a:lnTo>
                  <a:cubicBezTo>
                    <a:pt x="202620" y="1818"/>
                    <a:pt x="190055" y="37"/>
                    <a:pt x="177426" y="0"/>
                  </a:cubicBezTo>
                  <a:lnTo>
                    <a:pt x="140074" y="0"/>
                  </a:lnTo>
                  <a:cubicBezTo>
                    <a:pt x="127445" y="37"/>
                    <a:pt x="114880" y="1818"/>
                    <a:pt x="102721" y="5296"/>
                  </a:cubicBezTo>
                  <a:lnTo>
                    <a:pt x="102721" y="76200"/>
                  </a:lnTo>
                  <a:lnTo>
                    <a:pt x="112075" y="76200"/>
                  </a:lnTo>
                  <a:cubicBezTo>
                    <a:pt x="132695" y="76200"/>
                    <a:pt x="149412" y="93251"/>
                    <a:pt x="149412" y="114283"/>
                  </a:cubicBezTo>
                  <a:cubicBezTo>
                    <a:pt x="149412" y="114284"/>
                    <a:pt x="149412" y="114284"/>
                    <a:pt x="149412" y="114284"/>
                  </a:cubicBezTo>
                  <a:lnTo>
                    <a:pt x="149412" y="171450"/>
                  </a:lnTo>
                  <a:cubicBezTo>
                    <a:pt x="149412" y="176711"/>
                    <a:pt x="145231" y="180975"/>
                    <a:pt x="140074" y="180975"/>
                  </a:cubicBezTo>
                  <a:lnTo>
                    <a:pt x="121397" y="180975"/>
                  </a:lnTo>
                  <a:cubicBezTo>
                    <a:pt x="116240" y="180975"/>
                    <a:pt x="112059" y="176711"/>
                    <a:pt x="112059" y="171450"/>
                  </a:cubicBezTo>
                  <a:cubicBezTo>
                    <a:pt x="112059" y="166189"/>
                    <a:pt x="116240" y="161925"/>
                    <a:pt x="121397" y="161925"/>
                  </a:cubicBezTo>
                  <a:lnTo>
                    <a:pt x="130797" y="161925"/>
                  </a:lnTo>
                  <a:lnTo>
                    <a:pt x="130797" y="114300"/>
                  </a:lnTo>
                  <a:cubicBezTo>
                    <a:pt x="130798" y="103780"/>
                    <a:pt x="122437" y="95251"/>
                    <a:pt x="112123" y="95250"/>
                  </a:cubicBezTo>
                  <a:cubicBezTo>
                    <a:pt x="112122" y="95250"/>
                    <a:pt x="112121" y="95250"/>
                    <a:pt x="112120" y="95250"/>
                  </a:cubicBezTo>
                  <a:lnTo>
                    <a:pt x="74690" y="95250"/>
                  </a:lnTo>
                  <a:cubicBezTo>
                    <a:pt x="64362" y="95280"/>
                    <a:pt x="55997" y="103813"/>
                    <a:pt x="55968" y="114348"/>
                  </a:cubicBezTo>
                  <a:lnTo>
                    <a:pt x="55968" y="161925"/>
                  </a:lnTo>
                  <a:lnTo>
                    <a:pt x="65368" y="161925"/>
                  </a:lnTo>
                  <a:cubicBezTo>
                    <a:pt x="70525" y="161925"/>
                    <a:pt x="74706" y="166189"/>
                    <a:pt x="74706" y="171450"/>
                  </a:cubicBezTo>
                  <a:cubicBezTo>
                    <a:pt x="74706" y="176711"/>
                    <a:pt x="70525" y="180975"/>
                    <a:pt x="65368" y="180975"/>
                  </a:cubicBezTo>
                  <a:lnTo>
                    <a:pt x="46691" y="180975"/>
                  </a:lnTo>
                  <a:cubicBezTo>
                    <a:pt x="41534" y="180975"/>
                    <a:pt x="37353" y="176711"/>
                    <a:pt x="37353" y="171450"/>
                  </a:cubicBezTo>
                  <a:lnTo>
                    <a:pt x="37353" y="114300"/>
                  </a:lnTo>
                  <a:cubicBezTo>
                    <a:pt x="37353" y="93258"/>
                    <a:pt x="54075" y="76200"/>
                    <a:pt x="74704" y="76200"/>
                  </a:cubicBezTo>
                  <a:cubicBezTo>
                    <a:pt x="74705" y="76200"/>
                    <a:pt x="74705" y="76200"/>
                    <a:pt x="74706" y="76200"/>
                  </a:cubicBezTo>
                  <a:lnTo>
                    <a:pt x="84044" y="76200"/>
                  </a:lnTo>
                  <a:lnTo>
                    <a:pt x="84044" y="11968"/>
                  </a:lnTo>
                  <a:cubicBezTo>
                    <a:pt x="33006" y="34681"/>
                    <a:pt x="9" y="86077"/>
                    <a:pt x="0" y="142875"/>
                  </a:cubicBezTo>
                  <a:lnTo>
                    <a:pt x="0" y="200025"/>
                  </a:lnTo>
                  <a:lnTo>
                    <a:pt x="317500" y="200025"/>
                  </a:lnTo>
                  <a:lnTo>
                    <a:pt x="317500" y="142875"/>
                  </a:lnTo>
                  <a:cubicBezTo>
                    <a:pt x="317491" y="86077"/>
                    <a:pt x="284493" y="34681"/>
                    <a:pt x="233456" y="11968"/>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8"/>
            <p:cNvSpPr/>
            <p:nvPr/>
          </p:nvSpPr>
          <p:spPr>
            <a:xfrm>
              <a:off x="4342192" y="487236"/>
              <a:ext cx="186764" cy="190500"/>
            </a:xfrm>
            <a:custGeom>
              <a:avLst/>
              <a:gdLst/>
              <a:ahLst/>
              <a:cxnLst/>
              <a:rect l="l" t="t" r="r" b="b"/>
              <a:pathLst>
                <a:path w="186764" h="190500" extrusionOk="0">
                  <a:moveTo>
                    <a:pt x="186765" y="95250"/>
                  </a:moveTo>
                  <a:cubicBezTo>
                    <a:pt x="186765" y="147855"/>
                    <a:pt x="144956" y="190500"/>
                    <a:pt x="93382" y="190500"/>
                  </a:cubicBezTo>
                  <a:cubicBezTo>
                    <a:pt x="41809" y="190500"/>
                    <a:pt x="0" y="147855"/>
                    <a:pt x="0" y="95250"/>
                  </a:cubicBezTo>
                  <a:cubicBezTo>
                    <a:pt x="0" y="42645"/>
                    <a:pt x="41809" y="0"/>
                    <a:pt x="93382" y="0"/>
                  </a:cubicBezTo>
                  <a:cubicBezTo>
                    <a:pt x="144956" y="0"/>
                    <a:pt x="186765" y="42645"/>
                    <a:pt x="186765" y="95250"/>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spTree>
    <p:extLst>
      <p:ext uri="{BB962C8B-B14F-4D97-AF65-F5344CB8AC3E}">
        <p14:creationId xmlns:p14="http://schemas.microsoft.com/office/powerpoint/2010/main" val="3033644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7"/>
          <p:cNvSpPr txBox="1">
            <a:spLocks noGrp="1"/>
          </p:cNvSpPr>
          <p:nvPr>
            <p:ph type="ctrTitle" idx="4294967295"/>
          </p:nvPr>
        </p:nvSpPr>
        <p:spPr>
          <a:xfrm>
            <a:off x="1152300" y="563525"/>
            <a:ext cx="6337007" cy="882503"/>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6000" dirty="0"/>
              <a:t>Thanks!</a:t>
            </a:r>
            <a:br>
              <a:rPr lang="en" sz="7200" dirty="0"/>
            </a:br>
            <a:endParaRPr sz="3200" dirty="0"/>
          </a:p>
        </p:txBody>
      </p:sp>
      <p:sp>
        <p:nvSpPr>
          <p:cNvPr id="346" name="Google Shape;346;p27"/>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18</a:t>
            </a:fld>
            <a:endParaRPr/>
          </a:p>
        </p:txBody>
      </p:sp>
      <p:pic>
        <p:nvPicPr>
          <p:cNvPr id="2" name="Picture 1">
            <a:extLst>
              <a:ext uri="{FF2B5EF4-FFF2-40B4-BE49-F238E27FC236}">
                <a16:creationId xmlns:a16="http://schemas.microsoft.com/office/drawing/2014/main" id="{C1C4ECD3-6AB0-674F-918E-3283F4AD6857}"/>
              </a:ext>
            </a:extLst>
          </p:cNvPr>
          <p:cNvPicPr>
            <a:picLocks noChangeAspect="1"/>
          </p:cNvPicPr>
          <p:nvPr/>
        </p:nvPicPr>
        <p:blipFill>
          <a:blip r:embed="rId3"/>
          <a:stretch>
            <a:fillRect/>
          </a:stretch>
        </p:blipFill>
        <p:spPr>
          <a:xfrm>
            <a:off x="1674036" y="1148317"/>
            <a:ext cx="5293534" cy="3529023"/>
          </a:xfrm>
          <a:prstGeom prst="rect">
            <a:avLst/>
          </a:prstGeom>
        </p:spPr>
      </p:pic>
    </p:spTree>
    <p:extLst>
      <p:ext uri="{BB962C8B-B14F-4D97-AF65-F5344CB8AC3E}">
        <p14:creationId xmlns:p14="http://schemas.microsoft.com/office/powerpoint/2010/main" val="2272813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6"/>
          <p:cNvSpPr txBox="1">
            <a:spLocks noGrp="1"/>
          </p:cNvSpPr>
          <p:nvPr>
            <p:ph type="ctrTitle"/>
          </p:nvPr>
        </p:nvSpPr>
        <p:spPr>
          <a:xfrm>
            <a:off x="397919" y="1437671"/>
            <a:ext cx="5209382" cy="1561179"/>
          </a:xfrm>
          <a:prstGeom prst="rect">
            <a:avLst/>
          </a:prstGeom>
        </p:spPr>
        <p:txBody>
          <a:bodyPr spcFirstLastPara="1" wrap="square" lIns="0" tIns="0" rIns="0" bIns="0" anchor="b" anchorCtr="0">
            <a:noAutofit/>
          </a:bodyPr>
          <a:lstStyle/>
          <a:p>
            <a:pPr algn="ctr">
              <a:lnSpc>
                <a:spcPct val="140016"/>
              </a:lnSpc>
            </a:pPr>
            <a:r>
              <a:rPr lang="en-US" sz="5400" dirty="0"/>
              <a:t>Appendix</a:t>
            </a:r>
          </a:p>
        </p:txBody>
      </p:sp>
      <p:sp>
        <p:nvSpPr>
          <p:cNvPr id="186" name="Google Shape;186;p16"/>
          <p:cNvSpPr txBox="1"/>
          <p:nvPr/>
        </p:nvSpPr>
        <p:spPr>
          <a:xfrm>
            <a:off x="6589900" y="759950"/>
            <a:ext cx="2554200" cy="2561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9600" dirty="0">
              <a:solidFill>
                <a:schemeClr val="lt1"/>
              </a:solidFill>
              <a:latin typeface="Barlow SemiBold"/>
              <a:ea typeface="Barlow SemiBold"/>
              <a:cs typeface="Barlow SemiBold"/>
              <a:sym typeface="Barlow SemiBold"/>
            </a:endParaRPr>
          </a:p>
        </p:txBody>
      </p:sp>
    </p:spTree>
    <p:extLst>
      <p:ext uri="{BB962C8B-B14F-4D97-AF65-F5344CB8AC3E}">
        <p14:creationId xmlns:p14="http://schemas.microsoft.com/office/powerpoint/2010/main" val="1749491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Data Limitations</a:t>
            </a:r>
            <a:endParaRPr dirty="0"/>
          </a:p>
        </p:txBody>
      </p:sp>
      <p:sp>
        <p:nvSpPr>
          <p:cNvPr id="202" name="Google Shape;202;p18"/>
          <p:cNvSpPr txBox="1">
            <a:spLocks noGrp="1"/>
          </p:cNvSpPr>
          <p:nvPr>
            <p:ph type="body" idx="1"/>
          </p:nvPr>
        </p:nvSpPr>
        <p:spPr>
          <a:xfrm>
            <a:off x="614974" y="1310850"/>
            <a:ext cx="7072365" cy="3669061"/>
          </a:xfrm>
          <a:prstGeom prst="rect">
            <a:avLst/>
          </a:prstGeom>
        </p:spPr>
        <p:txBody>
          <a:bodyPr spcFirstLastPara="1" wrap="square" lIns="0" tIns="0" rIns="0" bIns="0" anchor="t" anchorCtr="0">
            <a:noAutofit/>
          </a:bodyPr>
          <a:lstStyle/>
          <a:p>
            <a:pPr lvl="0"/>
            <a:r>
              <a:rPr lang="en" sz="1800" dirty="0"/>
              <a:t>The costs for only these 4 medical conditions were present, it would have been ideal to have more conditions to observe correlations for, preferably those with longer episodes of care.</a:t>
            </a:r>
          </a:p>
          <a:p>
            <a:pPr marL="76200" lvl="0" indent="0">
              <a:buNone/>
            </a:pPr>
            <a:endParaRPr lang="en" sz="1800" dirty="0"/>
          </a:p>
          <a:p>
            <a:pPr lvl="0"/>
            <a:r>
              <a:rPr lang="en" sz="1800" dirty="0"/>
              <a:t>Many hospitals are either too small to report on cost/quality data, or just do not participate in the Medicare scoring program entirely.  These null records were om</a:t>
            </a:r>
            <a:r>
              <a:rPr lang="en-US" sz="1800" dirty="0"/>
              <a:t>it</a:t>
            </a:r>
            <a:r>
              <a:rPr lang="en" sz="1800" dirty="0"/>
              <a:t>ted from the map.</a:t>
            </a:r>
          </a:p>
          <a:p>
            <a:pPr marL="76200" lvl="0" indent="0">
              <a:buNone/>
            </a:pPr>
            <a:endParaRPr lang="en" sz="1800" dirty="0"/>
          </a:p>
          <a:p>
            <a:r>
              <a:rPr lang="en" sz="1800" dirty="0"/>
              <a:t>In order to plot points on the map, the hospital addresses required geocoding within Python to obtain coordinate values.  Some hospitals could not be located with the geocoding method (roughly 1,000 out of 18,000 records)</a:t>
            </a:r>
          </a:p>
          <a:p>
            <a:pPr lvl="0"/>
            <a:endParaRPr lang="en" dirty="0"/>
          </a:p>
          <a:p>
            <a:pPr marL="76200" lvl="0" indent="0">
              <a:buNone/>
            </a:pPr>
            <a:endParaRPr dirty="0"/>
          </a:p>
        </p:txBody>
      </p:sp>
      <p:sp>
        <p:nvSpPr>
          <p:cNvPr id="203" name="Google Shape;203;p18"/>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20</a:t>
            </a:fld>
            <a:endParaRPr/>
          </a:p>
        </p:txBody>
      </p:sp>
      <p:grpSp>
        <p:nvGrpSpPr>
          <p:cNvPr id="204" name="Google Shape;204;p18"/>
          <p:cNvGrpSpPr/>
          <p:nvPr/>
        </p:nvGrpSpPr>
        <p:grpSpPr>
          <a:xfrm>
            <a:off x="8436324" y="288377"/>
            <a:ext cx="361474" cy="477145"/>
            <a:chOff x="4276825" y="487236"/>
            <a:chExt cx="317500" cy="419100"/>
          </a:xfrm>
        </p:grpSpPr>
        <p:sp>
          <p:nvSpPr>
            <p:cNvPr id="205" name="Google Shape;205;p18"/>
            <p:cNvSpPr/>
            <p:nvPr/>
          </p:nvSpPr>
          <p:spPr>
            <a:xfrm>
              <a:off x="4276825" y="706311"/>
              <a:ext cx="317500" cy="200025"/>
            </a:xfrm>
            <a:custGeom>
              <a:avLst/>
              <a:gdLst/>
              <a:ahLst/>
              <a:cxnLst/>
              <a:rect l="l" t="t" r="r" b="b"/>
              <a:pathLst>
                <a:path w="317500" h="200025" extrusionOk="0">
                  <a:moveTo>
                    <a:pt x="233456" y="11968"/>
                  </a:moveTo>
                  <a:lnTo>
                    <a:pt x="233456" y="77950"/>
                  </a:lnTo>
                  <a:cubicBezTo>
                    <a:pt x="248043" y="83210"/>
                    <a:pt x="255687" y="99537"/>
                    <a:pt x="250530" y="114415"/>
                  </a:cubicBezTo>
                  <a:cubicBezTo>
                    <a:pt x="245372" y="129294"/>
                    <a:pt x="229367" y="137092"/>
                    <a:pt x="214779" y="131832"/>
                  </a:cubicBezTo>
                  <a:cubicBezTo>
                    <a:pt x="200192" y="126571"/>
                    <a:pt x="192548" y="110244"/>
                    <a:pt x="197705" y="95365"/>
                  </a:cubicBezTo>
                  <a:cubicBezTo>
                    <a:pt x="200526" y="87228"/>
                    <a:pt x="206802" y="80827"/>
                    <a:pt x="214779" y="77950"/>
                  </a:cubicBezTo>
                  <a:lnTo>
                    <a:pt x="214779" y="5296"/>
                  </a:lnTo>
                  <a:cubicBezTo>
                    <a:pt x="202620" y="1818"/>
                    <a:pt x="190055" y="37"/>
                    <a:pt x="177426" y="0"/>
                  </a:cubicBezTo>
                  <a:lnTo>
                    <a:pt x="140074" y="0"/>
                  </a:lnTo>
                  <a:cubicBezTo>
                    <a:pt x="127445" y="37"/>
                    <a:pt x="114880" y="1818"/>
                    <a:pt x="102721" y="5296"/>
                  </a:cubicBezTo>
                  <a:lnTo>
                    <a:pt x="102721" y="76200"/>
                  </a:lnTo>
                  <a:lnTo>
                    <a:pt x="112075" y="76200"/>
                  </a:lnTo>
                  <a:cubicBezTo>
                    <a:pt x="132695" y="76200"/>
                    <a:pt x="149412" y="93251"/>
                    <a:pt x="149412" y="114283"/>
                  </a:cubicBezTo>
                  <a:cubicBezTo>
                    <a:pt x="149412" y="114284"/>
                    <a:pt x="149412" y="114284"/>
                    <a:pt x="149412" y="114284"/>
                  </a:cubicBezTo>
                  <a:lnTo>
                    <a:pt x="149412" y="171450"/>
                  </a:lnTo>
                  <a:cubicBezTo>
                    <a:pt x="149412" y="176711"/>
                    <a:pt x="145231" y="180975"/>
                    <a:pt x="140074" y="180975"/>
                  </a:cubicBezTo>
                  <a:lnTo>
                    <a:pt x="121397" y="180975"/>
                  </a:lnTo>
                  <a:cubicBezTo>
                    <a:pt x="116240" y="180975"/>
                    <a:pt x="112059" y="176711"/>
                    <a:pt x="112059" y="171450"/>
                  </a:cubicBezTo>
                  <a:cubicBezTo>
                    <a:pt x="112059" y="166189"/>
                    <a:pt x="116240" y="161925"/>
                    <a:pt x="121397" y="161925"/>
                  </a:cubicBezTo>
                  <a:lnTo>
                    <a:pt x="130797" y="161925"/>
                  </a:lnTo>
                  <a:lnTo>
                    <a:pt x="130797" y="114300"/>
                  </a:lnTo>
                  <a:cubicBezTo>
                    <a:pt x="130798" y="103780"/>
                    <a:pt x="122437" y="95251"/>
                    <a:pt x="112123" y="95250"/>
                  </a:cubicBezTo>
                  <a:cubicBezTo>
                    <a:pt x="112122" y="95250"/>
                    <a:pt x="112121" y="95250"/>
                    <a:pt x="112120" y="95250"/>
                  </a:cubicBezTo>
                  <a:lnTo>
                    <a:pt x="74690" y="95250"/>
                  </a:lnTo>
                  <a:cubicBezTo>
                    <a:pt x="64362" y="95280"/>
                    <a:pt x="55997" y="103813"/>
                    <a:pt x="55968" y="114348"/>
                  </a:cubicBezTo>
                  <a:lnTo>
                    <a:pt x="55968" y="161925"/>
                  </a:lnTo>
                  <a:lnTo>
                    <a:pt x="65368" y="161925"/>
                  </a:lnTo>
                  <a:cubicBezTo>
                    <a:pt x="70525" y="161925"/>
                    <a:pt x="74706" y="166189"/>
                    <a:pt x="74706" y="171450"/>
                  </a:cubicBezTo>
                  <a:cubicBezTo>
                    <a:pt x="74706" y="176711"/>
                    <a:pt x="70525" y="180975"/>
                    <a:pt x="65368" y="180975"/>
                  </a:cubicBezTo>
                  <a:lnTo>
                    <a:pt x="46691" y="180975"/>
                  </a:lnTo>
                  <a:cubicBezTo>
                    <a:pt x="41534" y="180975"/>
                    <a:pt x="37353" y="176711"/>
                    <a:pt x="37353" y="171450"/>
                  </a:cubicBezTo>
                  <a:lnTo>
                    <a:pt x="37353" y="114300"/>
                  </a:lnTo>
                  <a:cubicBezTo>
                    <a:pt x="37353" y="93258"/>
                    <a:pt x="54075" y="76200"/>
                    <a:pt x="74704" y="76200"/>
                  </a:cubicBezTo>
                  <a:cubicBezTo>
                    <a:pt x="74705" y="76200"/>
                    <a:pt x="74705" y="76200"/>
                    <a:pt x="74706" y="76200"/>
                  </a:cubicBezTo>
                  <a:lnTo>
                    <a:pt x="84044" y="76200"/>
                  </a:lnTo>
                  <a:lnTo>
                    <a:pt x="84044" y="11968"/>
                  </a:lnTo>
                  <a:cubicBezTo>
                    <a:pt x="33006" y="34681"/>
                    <a:pt x="9" y="86077"/>
                    <a:pt x="0" y="142875"/>
                  </a:cubicBezTo>
                  <a:lnTo>
                    <a:pt x="0" y="200025"/>
                  </a:lnTo>
                  <a:lnTo>
                    <a:pt x="317500" y="200025"/>
                  </a:lnTo>
                  <a:lnTo>
                    <a:pt x="317500" y="142875"/>
                  </a:lnTo>
                  <a:cubicBezTo>
                    <a:pt x="317491" y="86077"/>
                    <a:pt x="284493" y="34681"/>
                    <a:pt x="233456" y="11968"/>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8"/>
            <p:cNvSpPr/>
            <p:nvPr/>
          </p:nvSpPr>
          <p:spPr>
            <a:xfrm>
              <a:off x="4342192" y="487236"/>
              <a:ext cx="186764" cy="190500"/>
            </a:xfrm>
            <a:custGeom>
              <a:avLst/>
              <a:gdLst/>
              <a:ahLst/>
              <a:cxnLst/>
              <a:rect l="l" t="t" r="r" b="b"/>
              <a:pathLst>
                <a:path w="186764" h="190500" extrusionOk="0">
                  <a:moveTo>
                    <a:pt x="186765" y="95250"/>
                  </a:moveTo>
                  <a:cubicBezTo>
                    <a:pt x="186765" y="147855"/>
                    <a:pt x="144956" y="190500"/>
                    <a:pt x="93382" y="190500"/>
                  </a:cubicBezTo>
                  <a:cubicBezTo>
                    <a:pt x="41809" y="190500"/>
                    <a:pt x="0" y="147855"/>
                    <a:pt x="0" y="95250"/>
                  </a:cubicBezTo>
                  <a:cubicBezTo>
                    <a:pt x="0" y="42645"/>
                    <a:pt x="41809" y="0"/>
                    <a:pt x="93382" y="0"/>
                  </a:cubicBezTo>
                  <a:cubicBezTo>
                    <a:pt x="144956" y="0"/>
                    <a:pt x="186765" y="42645"/>
                    <a:pt x="186765" y="95250"/>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spTree>
    <p:extLst>
      <p:ext uri="{BB962C8B-B14F-4D97-AF65-F5344CB8AC3E}">
        <p14:creationId xmlns:p14="http://schemas.microsoft.com/office/powerpoint/2010/main" val="2904217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8"/>
          <p:cNvSpPr txBox="1">
            <a:spLocks noGrp="1"/>
          </p:cNvSpPr>
          <p:nvPr>
            <p:ph type="title"/>
          </p:nvPr>
        </p:nvSpPr>
        <p:spPr>
          <a:xfrm>
            <a:off x="614975" y="391350"/>
            <a:ext cx="6757800" cy="91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Sources</a:t>
            </a:r>
            <a:endParaRPr dirty="0"/>
          </a:p>
        </p:txBody>
      </p:sp>
      <p:sp>
        <p:nvSpPr>
          <p:cNvPr id="203" name="Google Shape;203;p18"/>
          <p:cNvSpPr txBox="1">
            <a:spLocks noGrp="1"/>
          </p:cNvSpPr>
          <p:nvPr>
            <p:ph type="sldNum" idx="12"/>
          </p:nvPr>
        </p:nvSpPr>
        <p:spPr>
          <a:xfrm>
            <a:off x="0" y="4762400"/>
            <a:ext cx="381000" cy="386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21</a:t>
            </a:fld>
            <a:endParaRPr/>
          </a:p>
        </p:txBody>
      </p:sp>
      <p:grpSp>
        <p:nvGrpSpPr>
          <p:cNvPr id="204" name="Google Shape;204;p18"/>
          <p:cNvGrpSpPr/>
          <p:nvPr/>
        </p:nvGrpSpPr>
        <p:grpSpPr>
          <a:xfrm>
            <a:off x="8436324" y="288377"/>
            <a:ext cx="361474" cy="477145"/>
            <a:chOff x="4276825" y="487236"/>
            <a:chExt cx="317500" cy="419100"/>
          </a:xfrm>
        </p:grpSpPr>
        <p:sp>
          <p:nvSpPr>
            <p:cNvPr id="205" name="Google Shape;205;p18"/>
            <p:cNvSpPr/>
            <p:nvPr/>
          </p:nvSpPr>
          <p:spPr>
            <a:xfrm>
              <a:off x="4276825" y="706311"/>
              <a:ext cx="317500" cy="200025"/>
            </a:xfrm>
            <a:custGeom>
              <a:avLst/>
              <a:gdLst/>
              <a:ahLst/>
              <a:cxnLst/>
              <a:rect l="l" t="t" r="r" b="b"/>
              <a:pathLst>
                <a:path w="317500" h="200025" extrusionOk="0">
                  <a:moveTo>
                    <a:pt x="233456" y="11968"/>
                  </a:moveTo>
                  <a:lnTo>
                    <a:pt x="233456" y="77950"/>
                  </a:lnTo>
                  <a:cubicBezTo>
                    <a:pt x="248043" y="83210"/>
                    <a:pt x="255687" y="99537"/>
                    <a:pt x="250530" y="114415"/>
                  </a:cubicBezTo>
                  <a:cubicBezTo>
                    <a:pt x="245372" y="129294"/>
                    <a:pt x="229367" y="137092"/>
                    <a:pt x="214779" y="131832"/>
                  </a:cubicBezTo>
                  <a:cubicBezTo>
                    <a:pt x="200192" y="126571"/>
                    <a:pt x="192548" y="110244"/>
                    <a:pt x="197705" y="95365"/>
                  </a:cubicBezTo>
                  <a:cubicBezTo>
                    <a:pt x="200526" y="87228"/>
                    <a:pt x="206802" y="80827"/>
                    <a:pt x="214779" y="77950"/>
                  </a:cubicBezTo>
                  <a:lnTo>
                    <a:pt x="214779" y="5296"/>
                  </a:lnTo>
                  <a:cubicBezTo>
                    <a:pt x="202620" y="1818"/>
                    <a:pt x="190055" y="37"/>
                    <a:pt x="177426" y="0"/>
                  </a:cubicBezTo>
                  <a:lnTo>
                    <a:pt x="140074" y="0"/>
                  </a:lnTo>
                  <a:cubicBezTo>
                    <a:pt x="127445" y="37"/>
                    <a:pt x="114880" y="1818"/>
                    <a:pt x="102721" y="5296"/>
                  </a:cubicBezTo>
                  <a:lnTo>
                    <a:pt x="102721" y="76200"/>
                  </a:lnTo>
                  <a:lnTo>
                    <a:pt x="112075" y="76200"/>
                  </a:lnTo>
                  <a:cubicBezTo>
                    <a:pt x="132695" y="76200"/>
                    <a:pt x="149412" y="93251"/>
                    <a:pt x="149412" y="114283"/>
                  </a:cubicBezTo>
                  <a:cubicBezTo>
                    <a:pt x="149412" y="114284"/>
                    <a:pt x="149412" y="114284"/>
                    <a:pt x="149412" y="114284"/>
                  </a:cubicBezTo>
                  <a:lnTo>
                    <a:pt x="149412" y="171450"/>
                  </a:lnTo>
                  <a:cubicBezTo>
                    <a:pt x="149412" y="176711"/>
                    <a:pt x="145231" y="180975"/>
                    <a:pt x="140074" y="180975"/>
                  </a:cubicBezTo>
                  <a:lnTo>
                    <a:pt x="121397" y="180975"/>
                  </a:lnTo>
                  <a:cubicBezTo>
                    <a:pt x="116240" y="180975"/>
                    <a:pt x="112059" y="176711"/>
                    <a:pt x="112059" y="171450"/>
                  </a:cubicBezTo>
                  <a:cubicBezTo>
                    <a:pt x="112059" y="166189"/>
                    <a:pt x="116240" y="161925"/>
                    <a:pt x="121397" y="161925"/>
                  </a:cubicBezTo>
                  <a:lnTo>
                    <a:pt x="130797" y="161925"/>
                  </a:lnTo>
                  <a:lnTo>
                    <a:pt x="130797" y="114300"/>
                  </a:lnTo>
                  <a:cubicBezTo>
                    <a:pt x="130798" y="103780"/>
                    <a:pt x="122437" y="95251"/>
                    <a:pt x="112123" y="95250"/>
                  </a:cubicBezTo>
                  <a:cubicBezTo>
                    <a:pt x="112122" y="95250"/>
                    <a:pt x="112121" y="95250"/>
                    <a:pt x="112120" y="95250"/>
                  </a:cubicBezTo>
                  <a:lnTo>
                    <a:pt x="74690" y="95250"/>
                  </a:lnTo>
                  <a:cubicBezTo>
                    <a:pt x="64362" y="95280"/>
                    <a:pt x="55997" y="103813"/>
                    <a:pt x="55968" y="114348"/>
                  </a:cubicBezTo>
                  <a:lnTo>
                    <a:pt x="55968" y="161925"/>
                  </a:lnTo>
                  <a:lnTo>
                    <a:pt x="65368" y="161925"/>
                  </a:lnTo>
                  <a:cubicBezTo>
                    <a:pt x="70525" y="161925"/>
                    <a:pt x="74706" y="166189"/>
                    <a:pt x="74706" y="171450"/>
                  </a:cubicBezTo>
                  <a:cubicBezTo>
                    <a:pt x="74706" y="176711"/>
                    <a:pt x="70525" y="180975"/>
                    <a:pt x="65368" y="180975"/>
                  </a:cubicBezTo>
                  <a:lnTo>
                    <a:pt x="46691" y="180975"/>
                  </a:lnTo>
                  <a:cubicBezTo>
                    <a:pt x="41534" y="180975"/>
                    <a:pt x="37353" y="176711"/>
                    <a:pt x="37353" y="171450"/>
                  </a:cubicBezTo>
                  <a:lnTo>
                    <a:pt x="37353" y="114300"/>
                  </a:lnTo>
                  <a:cubicBezTo>
                    <a:pt x="37353" y="93258"/>
                    <a:pt x="54075" y="76200"/>
                    <a:pt x="74704" y="76200"/>
                  </a:cubicBezTo>
                  <a:cubicBezTo>
                    <a:pt x="74705" y="76200"/>
                    <a:pt x="74705" y="76200"/>
                    <a:pt x="74706" y="76200"/>
                  </a:cubicBezTo>
                  <a:lnTo>
                    <a:pt x="84044" y="76200"/>
                  </a:lnTo>
                  <a:lnTo>
                    <a:pt x="84044" y="11968"/>
                  </a:lnTo>
                  <a:cubicBezTo>
                    <a:pt x="33006" y="34681"/>
                    <a:pt x="9" y="86077"/>
                    <a:pt x="0" y="142875"/>
                  </a:cubicBezTo>
                  <a:lnTo>
                    <a:pt x="0" y="200025"/>
                  </a:lnTo>
                  <a:lnTo>
                    <a:pt x="317500" y="200025"/>
                  </a:lnTo>
                  <a:lnTo>
                    <a:pt x="317500" y="142875"/>
                  </a:lnTo>
                  <a:cubicBezTo>
                    <a:pt x="317491" y="86077"/>
                    <a:pt x="284493" y="34681"/>
                    <a:pt x="233456" y="11968"/>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8"/>
            <p:cNvSpPr/>
            <p:nvPr/>
          </p:nvSpPr>
          <p:spPr>
            <a:xfrm>
              <a:off x="4342192" y="487236"/>
              <a:ext cx="186764" cy="190500"/>
            </a:xfrm>
            <a:custGeom>
              <a:avLst/>
              <a:gdLst/>
              <a:ahLst/>
              <a:cxnLst/>
              <a:rect l="l" t="t" r="r" b="b"/>
              <a:pathLst>
                <a:path w="186764" h="190500" extrusionOk="0">
                  <a:moveTo>
                    <a:pt x="186765" y="95250"/>
                  </a:moveTo>
                  <a:cubicBezTo>
                    <a:pt x="186765" y="147855"/>
                    <a:pt x="144956" y="190500"/>
                    <a:pt x="93382" y="190500"/>
                  </a:cubicBezTo>
                  <a:cubicBezTo>
                    <a:pt x="41809" y="190500"/>
                    <a:pt x="0" y="147855"/>
                    <a:pt x="0" y="95250"/>
                  </a:cubicBezTo>
                  <a:cubicBezTo>
                    <a:pt x="0" y="42645"/>
                    <a:pt x="41809" y="0"/>
                    <a:pt x="93382" y="0"/>
                  </a:cubicBezTo>
                  <a:cubicBezTo>
                    <a:pt x="144956" y="0"/>
                    <a:pt x="186765" y="42645"/>
                    <a:pt x="186765" y="95250"/>
                  </a:cubicBezTo>
                  <a:close/>
                </a:path>
              </a:pathLst>
            </a:custGeom>
            <a:solidFill>
              <a:schemeClr val="lt1"/>
            </a:solidFill>
            <a:ln>
              <a:noFill/>
            </a:ln>
            <a:effectLst>
              <a:outerShdw dist="19050" dir="5400000" algn="bl" rotWithShape="0">
                <a:schemeClr val="dk1">
                  <a:alpha val="15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sp>
        <p:nvSpPr>
          <p:cNvPr id="8" name="Google Shape;202;p18">
            <a:extLst>
              <a:ext uri="{FF2B5EF4-FFF2-40B4-BE49-F238E27FC236}">
                <a16:creationId xmlns:a16="http://schemas.microsoft.com/office/drawing/2014/main" id="{928AC2F3-E7F1-9244-B512-2BB11E2FE081}"/>
              </a:ext>
            </a:extLst>
          </p:cNvPr>
          <p:cNvSpPr txBox="1">
            <a:spLocks/>
          </p:cNvSpPr>
          <p:nvPr/>
        </p:nvSpPr>
        <p:spPr>
          <a:xfrm>
            <a:off x="614975" y="1310850"/>
            <a:ext cx="6757800" cy="366906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Barlow Light"/>
              <a:buChar char="▸"/>
              <a:defRPr sz="2400" b="0" i="0" u="none" strike="noStrike" cap="none">
                <a:solidFill>
                  <a:schemeClr val="dk1"/>
                </a:solidFill>
                <a:latin typeface="Barlow Light"/>
                <a:ea typeface="Barlow Light"/>
                <a:cs typeface="Barlow Light"/>
                <a:sym typeface="Barlow Light"/>
              </a:defRPr>
            </a:lvl1pPr>
            <a:lvl2pPr marL="914400" marR="0" lvl="1" indent="-381000" algn="l" rtl="0">
              <a:lnSpc>
                <a:spcPct val="100000"/>
              </a:lnSpc>
              <a:spcBef>
                <a:spcPts val="0"/>
              </a:spcBef>
              <a:spcAft>
                <a:spcPts val="0"/>
              </a:spcAft>
              <a:buClr>
                <a:schemeClr val="dk2"/>
              </a:buClr>
              <a:buSzPts val="2400"/>
              <a:buFont typeface="Barlow Light"/>
              <a:buChar char="▹"/>
              <a:defRPr sz="2400" b="0" i="0" u="none" strike="noStrike" cap="none">
                <a:solidFill>
                  <a:schemeClr val="dk1"/>
                </a:solidFill>
                <a:latin typeface="Barlow Light"/>
                <a:ea typeface="Barlow Light"/>
                <a:cs typeface="Barlow Light"/>
                <a:sym typeface="Barlow Light"/>
              </a:defRPr>
            </a:lvl2pPr>
            <a:lvl3pPr marL="1371600" marR="0" lvl="2" indent="-381000" algn="l" rtl="0">
              <a:lnSpc>
                <a:spcPct val="100000"/>
              </a:lnSpc>
              <a:spcBef>
                <a:spcPts val="0"/>
              </a:spcBef>
              <a:spcAft>
                <a:spcPts val="0"/>
              </a:spcAft>
              <a:buClr>
                <a:schemeClr val="dk2"/>
              </a:buClr>
              <a:buSzPts val="2400"/>
              <a:buFont typeface="Barlow Light"/>
              <a:buChar char="■"/>
              <a:defRPr sz="2400" b="0" i="0" u="none" strike="noStrike" cap="none">
                <a:solidFill>
                  <a:schemeClr val="dk1"/>
                </a:solidFill>
                <a:latin typeface="Barlow Light"/>
                <a:ea typeface="Barlow Light"/>
                <a:cs typeface="Barlow Light"/>
                <a:sym typeface="Barlow Light"/>
              </a:defRPr>
            </a:lvl3pPr>
            <a:lvl4pPr marL="1828800" marR="0" lvl="3" indent="-381000" algn="l" rtl="0">
              <a:lnSpc>
                <a:spcPct val="100000"/>
              </a:lnSpc>
              <a:spcBef>
                <a:spcPts val="0"/>
              </a:spcBef>
              <a:spcAft>
                <a:spcPts val="0"/>
              </a:spcAft>
              <a:buClr>
                <a:schemeClr val="dk2"/>
              </a:buClr>
              <a:buSzPts val="2400"/>
              <a:buFont typeface="Barlow Light"/>
              <a:buChar char="●"/>
              <a:defRPr sz="2400" b="0" i="0" u="none" strike="noStrike" cap="none">
                <a:solidFill>
                  <a:schemeClr val="dk1"/>
                </a:solidFill>
                <a:latin typeface="Barlow Light"/>
                <a:ea typeface="Barlow Light"/>
                <a:cs typeface="Barlow Light"/>
                <a:sym typeface="Barlow Light"/>
              </a:defRPr>
            </a:lvl4pPr>
            <a:lvl5pPr marL="2286000" marR="0" lvl="4" indent="-381000" algn="l" rtl="0">
              <a:lnSpc>
                <a:spcPct val="100000"/>
              </a:lnSpc>
              <a:spcBef>
                <a:spcPts val="0"/>
              </a:spcBef>
              <a:spcAft>
                <a:spcPts val="0"/>
              </a:spcAft>
              <a:buClr>
                <a:schemeClr val="dk2"/>
              </a:buClr>
              <a:buSzPts val="2400"/>
              <a:buFont typeface="Barlow Light"/>
              <a:buChar char="○"/>
              <a:defRPr sz="2400" b="0" i="0" u="none" strike="noStrike" cap="none">
                <a:solidFill>
                  <a:schemeClr val="dk1"/>
                </a:solidFill>
                <a:latin typeface="Barlow Light"/>
                <a:ea typeface="Barlow Light"/>
                <a:cs typeface="Barlow Light"/>
                <a:sym typeface="Barlow Light"/>
              </a:defRPr>
            </a:lvl5pPr>
            <a:lvl6pPr marL="2743200" marR="0" lvl="5" indent="-381000" algn="l" rtl="0">
              <a:lnSpc>
                <a:spcPct val="100000"/>
              </a:lnSpc>
              <a:spcBef>
                <a:spcPts val="0"/>
              </a:spcBef>
              <a:spcAft>
                <a:spcPts val="0"/>
              </a:spcAft>
              <a:buClr>
                <a:schemeClr val="dk2"/>
              </a:buClr>
              <a:buSzPts val="2400"/>
              <a:buFont typeface="Barlow Light"/>
              <a:buChar char="■"/>
              <a:defRPr sz="2400" b="0" i="0" u="none" strike="noStrike" cap="none">
                <a:solidFill>
                  <a:schemeClr val="dk1"/>
                </a:solidFill>
                <a:latin typeface="Barlow Light"/>
                <a:ea typeface="Barlow Light"/>
                <a:cs typeface="Barlow Light"/>
                <a:sym typeface="Barlow Light"/>
              </a:defRPr>
            </a:lvl6pPr>
            <a:lvl7pPr marL="3200400" marR="0" lvl="6" indent="-381000" algn="l" rtl="0">
              <a:lnSpc>
                <a:spcPct val="100000"/>
              </a:lnSpc>
              <a:spcBef>
                <a:spcPts val="0"/>
              </a:spcBef>
              <a:spcAft>
                <a:spcPts val="0"/>
              </a:spcAft>
              <a:buClr>
                <a:schemeClr val="dk2"/>
              </a:buClr>
              <a:buSzPts val="2400"/>
              <a:buFont typeface="Barlow Light"/>
              <a:buChar char="●"/>
              <a:defRPr sz="2400" b="0" i="0" u="none" strike="noStrike" cap="none">
                <a:solidFill>
                  <a:schemeClr val="dk1"/>
                </a:solidFill>
                <a:latin typeface="Barlow Light"/>
                <a:ea typeface="Barlow Light"/>
                <a:cs typeface="Barlow Light"/>
                <a:sym typeface="Barlow Light"/>
              </a:defRPr>
            </a:lvl7pPr>
            <a:lvl8pPr marL="3657600" marR="0" lvl="7" indent="-381000" algn="l" rtl="0">
              <a:lnSpc>
                <a:spcPct val="100000"/>
              </a:lnSpc>
              <a:spcBef>
                <a:spcPts val="0"/>
              </a:spcBef>
              <a:spcAft>
                <a:spcPts val="0"/>
              </a:spcAft>
              <a:buClr>
                <a:schemeClr val="dk2"/>
              </a:buClr>
              <a:buSzPts val="2400"/>
              <a:buFont typeface="Barlow Light"/>
              <a:buChar char="○"/>
              <a:defRPr sz="2400" b="0" i="0" u="none" strike="noStrike" cap="none">
                <a:solidFill>
                  <a:schemeClr val="dk1"/>
                </a:solidFill>
                <a:latin typeface="Barlow Light"/>
                <a:ea typeface="Barlow Light"/>
                <a:cs typeface="Barlow Light"/>
                <a:sym typeface="Barlow Light"/>
              </a:defRPr>
            </a:lvl8pPr>
            <a:lvl9pPr marL="4114800" marR="0" lvl="8" indent="-381000" algn="l" rtl="0">
              <a:lnSpc>
                <a:spcPct val="100000"/>
              </a:lnSpc>
              <a:spcBef>
                <a:spcPts val="0"/>
              </a:spcBef>
              <a:spcAft>
                <a:spcPts val="0"/>
              </a:spcAft>
              <a:buClr>
                <a:schemeClr val="dk2"/>
              </a:buClr>
              <a:buSzPts val="2400"/>
              <a:buFont typeface="Barlow Light"/>
              <a:buChar char="■"/>
              <a:defRPr sz="2400" b="0" i="0" u="none" strike="noStrike" cap="none">
                <a:solidFill>
                  <a:schemeClr val="dk1"/>
                </a:solidFill>
                <a:latin typeface="Barlow Light"/>
                <a:ea typeface="Barlow Light"/>
                <a:cs typeface="Barlow Light"/>
                <a:sym typeface="Barlow Light"/>
              </a:defRPr>
            </a:lvl9pPr>
          </a:lstStyle>
          <a:p>
            <a:r>
              <a:rPr lang="en-US" sz="1400" dirty="0"/>
              <a:t>Hospital General Information and Star Ratings:</a:t>
            </a:r>
            <a:br>
              <a:rPr lang="en-US" sz="1400" dirty="0"/>
            </a:br>
            <a:r>
              <a:rPr lang="en-US" sz="1400" i="1" u="sng" dirty="0">
                <a:hlinkClick r:id="rId3"/>
              </a:rPr>
              <a:t>https://data.cms.gov/provider-data/dataset/xubh-q36u</a:t>
            </a:r>
            <a:endParaRPr lang="en-US" sz="1400" dirty="0"/>
          </a:p>
          <a:p>
            <a:pPr marL="76200" indent="0">
              <a:buFont typeface="Barlow Light"/>
              <a:buNone/>
            </a:pPr>
            <a:endParaRPr lang="en-US" sz="1400" dirty="0"/>
          </a:p>
          <a:p>
            <a:r>
              <a:rPr lang="en-US" sz="1400" dirty="0"/>
              <a:t>Medicare Spending Per Beneficiary:</a:t>
            </a:r>
            <a:br>
              <a:rPr lang="en-US" sz="1400" dirty="0"/>
            </a:br>
            <a:r>
              <a:rPr lang="en-US" sz="1400" i="1" u="sng" dirty="0">
                <a:hlinkClick r:id="rId4"/>
              </a:rPr>
              <a:t>https://data.cms.gov/provider-data/dataset/rrqw-56er</a:t>
            </a:r>
            <a:endParaRPr lang="en-US" sz="1400" dirty="0"/>
          </a:p>
          <a:p>
            <a:pPr marL="76200" indent="0">
              <a:buFont typeface="Barlow Light"/>
              <a:buNone/>
            </a:pPr>
            <a:endParaRPr lang="en-US" sz="1400" dirty="0"/>
          </a:p>
          <a:p>
            <a:r>
              <a:rPr lang="en-US" sz="1400" dirty="0"/>
              <a:t>Complication and Mortality Rates by Hospital:</a:t>
            </a:r>
            <a:br>
              <a:rPr lang="en-US" sz="1400" dirty="0"/>
            </a:br>
            <a:r>
              <a:rPr lang="en-US" sz="1400" i="1" u="sng" dirty="0">
                <a:hlinkClick r:id="rId5"/>
              </a:rPr>
              <a:t>https://data.cms.gov/provider-data/dataset/ynj2-r877</a:t>
            </a:r>
            <a:endParaRPr lang="en-US" sz="1400" dirty="0"/>
          </a:p>
          <a:p>
            <a:endParaRPr lang="en-US" sz="1400" dirty="0"/>
          </a:p>
          <a:p>
            <a:r>
              <a:rPr lang="en-US" sz="1400" dirty="0"/>
              <a:t>Readmission Rates by Hospital:</a:t>
            </a:r>
            <a:br>
              <a:rPr lang="en-US" sz="1400" dirty="0"/>
            </a:br>
            <a:r>
              <a:rPr lang="en-US" sz="1400" i="1" u="sng" dirty="0">
                <a:hlinkClick r:id="rId6"/>
              </a:rPr>
              <a:t>https://data.cms.gov/provider-data/dataset/9n3s-kdb3</a:t>
            </a:r>
            <a:endParaRPr lang="en-US" sz="1400" i="1" u="sng" dirty="0"/>
          </a:p>
          <a:p>
            <a:endParaRPr lang="en-US" sz="1400" i="1" u="sng" dirty="0"/>
          </a:p>
          <a:p>
            <a:r>
              <a:rPr lang="en-US" sz="1400" dirty="0"/>
              <a:t>Payment and Value of Care:</a:t>
            </a:r>
            <a:br>
              <a:rPr lang="en-US" sz="1400" dirty="0"/>
            </a:br>
            <a:r>
              <a:rPr lang="en-US" sz="1400" i="1" u="sng" dirty="0">
                <a:hlinkClick r:id="rId7"/>
              </a:rPr>
              <a:t>https://</a:t>
            </a:r>
            <a:r>
              <a:rPr lang="en-US" sz="1400" i="1" u="sng" dirty="0" err="1">
                <a:hlinkClick r:id="rId7"/>
              </a:rPr>
              <a:t>data.cms.gov</a:t>
            </a:r>
            <a:r>
              <a:rPr lang="en-US" sz="1400" i="1" u="sng" dirty="0">
                <a:hlinkClick r:id="rId7"/>
              </a:rPr>
              <a:t>/provider-data/dataset/c7us-v4mf</a:t>
            </a:r>
            <a:endParaRPr lang="en-US" sz="1400" dirty="0"/>
          </a:p>
          <a:p>
            <a:pPr marL="76200" indent="0">
              <a:buFont typeface="Barlow Light"/>
              <a:buNone/>
            </a:pPr>
            <a:endParaRPr lang="en-US" dirty="0"/>
          </a:p>
        </p:txBody>
      </p:sp>
    </p:spTree>
    <p:extLst>
      <p:ext uri="{BB962C8B-B14F-4D97-AF65-F5344CB8AC3E}">
        <p14:creationId xmlns:p14="http://schemas.microsoft.com/office/powerpoint/2010/main" val="2172126349"/>
      </p:ext>
    </p:extLst>
  </p:cSld>
  <p:clrMapOvr>
    <a:masterClrMapping/>
  </p:clrMapOvr>
</p:sld>
</file>

<file path=ppt/theme/theme1.xml><?xml version="1.0" encoding="utf-8"?>
<a:theme xmlns:a="http://schemas.openxmlformats.org/drawingml/2006/main" name="Caius template">
  <a:themeElements>
    <a:clrScheme name="Custom 347">
      <a:dk1>
        <a:srgbClr val="001F46"/>
      </a:dk1>
      <a:lt1>
        <a:srgbClr val="FFFFFF"/>
      </a:lt1>
      <a:dk2>
        <a:srgbClr val="748394"/>
      </a:dk2>
      <a:lt2>
        <a:srgbClr val="F0F3F7"/>
      </a:lt2>
      <a:accent1>
        <a:srgbClr val="4397EE"/>
      </a:accent1>
      <a:accent2>
        <a:srgbClr val="2170CC"/>
      </a:accent2>
      <a:accent3>
        <a:srgbClr val="154C8A"/>
      </a:accent3>
      <a:accent4>
        <a:srgbClr val="A9D039"/>
      </a:accent4>
      <a:accent5>
        <a:srgbClr val="14B9CA"/>
      </a:accent5>
      <a:accent6>
        <a:srgbClr val="DDE3EB"/>
      </a:accent6>
      <a:hlink>
        <a:srgbClr val="2170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22563</TotalTime>
  <Words>828</Words>
  <Application>Microsoft Macintosh PowerPoint</Application>
  <PresentationFormat>On-screen Show (16:9)</PresentationFormat>
  <Paragraphs>113</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Barlow SemiBold</vt:lpstr>
      <vt:lpstr>Barlow</vt:lpstr>
      <vt:lpstr>Libre Baskerville</vt:lpstr>
      <vt:lpstr>Calibri</vt:lpstr>
      <vt:lpstr>Barlow Light</vt:lpstr>
      <vt:lpstr>Arial</vt:lpstr>
      <vt:lpstr>Caius template</vt:lpstr>
      <vt:lpstr>Hello!</vt:lpstr>
      <vt:lpstr>Hospital Costs vs. Quality of Care</vt:lpstr>
      <vt:lpstr>PowerPoint Presentation</vt:lpstr>
      <vt:lpstr>Introduction &amp; Problem Statement</vt:lpstr>
      <vt:lpstr>PowerPoint Presentation</vt:lpstr>
      <vt:lpstr>The Project</vt:lpstr>
      <vt:lpstr>The Data: Sources &amp; Measurements Used</vt:lpstr>
      <vt:lpstr>Dataset</vt:lpstr>
      <vt:lpstr>1. How are we measuring the cost of care?</vt:lpstr>
      <vt:lpstr>Defining “Cost” of Care</vt:lpstr>
      <vt:lpstr>How Does Medicare Define an Episode of Care?</vt:lpstr>
      <vt:lpstr>Defining “Quality” of Care</vt:lpstr>
      <vt:lpstr>Dashboards: Analysis &amp; Insights</vt:lpstr>
      <vt:lpstr>Dashboard Tour</vt:lpstr>
      <vt:lpstr>Conclusions, Data Limitations, &amp; Next Steps</vt:lpstr>
      <vt:lpstr>Conclusions/Takeaways</vt:lpstr>
      <vt:lpstr>Next Steps</vt:lpstr>
      <vt:lpstr>Thanks! </vt:lpstr>
      <vt:lpstr>Appendix</vt:lpstr>
      <vt:lpstr>Data Limitations</vt:lpstr>
      <vt:lpstr>Sources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Costs vs. Quality of Care</dc:title>
  <cp:lastModifiedBy>Microsoft Office User</cp:lastModifiedBy>
  <cp:revision>41</cp:revision>
  <dcterms:modified xsi:type="dcterms:W3CDTF">2025-03-05T00:13:21Z</dcterms:modified>
</cp:coreProperties>
</file>